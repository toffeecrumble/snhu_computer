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2456b34a-05df-0ef1-c96c-fefdc26a5b34}">
          <p14:sldIdLst>
            <p14:sldId id="256"/>
          </p14:sldIdLst>
        </p14:section>
        <p14:section name="Findings" id="{846f0e7f-e487-770a-71ab-f4c0b2f1f783}">
          <p14:sldIdLst>
            <p14:sldId id="257"/>
            <p14:sldId id="258"/>
            <p14:sldId id="259"/>
            <p14:sldId id="260"/>
          </p14:sldIdLst>
        </p14:section>
        <p14:section name="Decision" id="{ef8438c5-c6d5-ba1a-9be7-98e3212fd303}">
          <p14:sldIdLst>
            <p14:sldId id="261"/>
            <p14:sldId id="262"/>
            <p14:sldId id="26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B0F14"/>
                </a:solidFill>
                <a:latin typeface="+mn-lt"/>
              </a:defRPr>
            </a:pPr>
            <a:r>
              <a:rPr sz="1400" b="0" i="0" u="none" strike="noStrike">
                <a:solidFill>
                  <a:srgbClr val="0B0F14"/>
                </a:solidFill>
                <a:latin typeface="+mn-lt"/>
              </a:rPr>
              <a:t>Hybrid approach adoption (%)</a:t>
            </a:r>
          </a:p>
        </c:rich>
      </c:tx>
      <c:layout/>
      <c:overlay val="0"/>
    </c:title>
    <c:autoTitleDeleted val="0"/>
    <c:plotArea>
      <c:layout/>
      <c:barChart>
        <c:barDir val="col"/>
        <c:grouping val="clustered"/>
        <c:varyColors val="0"/>
        <c:ser>
          <c:idx val="0"/>
          <c:order val="0"/>
          <c:tx>
            <c:strRef>
              <c:f>Sheet1!$B$1</c:f>
              <c:strCache>
                <c:ptCount val="1"/>
                <c:pt idx="0">
                  <c:v>Hybrid adoption</c:v>
                </c:pt>
              </c:strCache>
            </c:strRef>
          </c:tx>
          <c:spPr>
            <a:solidFill>
              <a:srgbClr val="29B0FA"/>
            </a:solidFill>
            <a:effectLst/>
          </c:spPr>
          <c:invertIfNegative val="0"/>
          <c:dLbls>
            <c:numFmt formatCode="0.0" sourceLinked="0"/>
            <c:txPr>
              <a:bodyPr/>
              <a:lstStyle/>
              <a:p>
                <a:pPr>
                  <a:defRPr b="0" i="0" strike="noStrike" sz="1400" u="none">
                    <a:solidFill>
                      <a:srgbClr val="0B0F14"/>
                    </a:solidFill>
                    <a:latin typeface="+mn-lt"/>
                  </a:defRPr>
                </a:pPr>
              </a:p>
            </c:txPr>
            <c:showLegendKey val="0"/>
            <c:showVal val="1"/>
            <c:showCatName val="0"/>
            <c:showSerName val="0"/>
            <c:showPercent val="0"/>
            <c:showBubbleSize val="0"/>
            <c:showLeaderLines val="0"/>
          </c:dLbls>
          <c:cat>
            <c:multiLvlStrRef>
              <c:f>Sheet1!$A$2:$A$3</c:f>
              <c:multiLvlStrCache>
                <c:ptCount val="2"/>
                <c:lvl>
                  <c:pt idx="0">
                    <c:v>2020</c:v>
                  </c:pt>
                  <c:pt idx="1">
                    <c:v>2023</c:v>
                  </c:pt>
                </c:lvl>
              </c:multiLvlStrCache>
            </c:multiLvlStrRef>
          </c:cat>
          <c:val>
            <c:numRef>
              <c:f>Sheet1!$B$2:$B$3</c:f>
              <c:numCache>
                <c:formatCode>General</c:formatCode>
                <c:ptCount val="2"/>
                <c:pt idx="0">
                  <c:v>20</c:v>
                </c:pt>
                <c:pt idx="1">
                  <c:v>31.5</c:v>
                </c:pt>
              </c:numCache>
            </c:numRef>
          </c:val>
        </c:ser>
        <c:dLbls>
          <c:numFmt formatCode="0.0" sourceLinked="0"/>
          <c:txPr>
            <a:bodyPr/>
            <a:lstStyle/>
            <a:p>
              <a:pPr>
                <a:defRPr b="0" i="0" strike="noStrike" sz="1400" u="none">
                  <a:solidFill>
                    <a:srgbClr val="0B0F14"/>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B0F14"/>
                </a:solidFill>
                <a:latin typeface="+mn-lt"/>
              </a:defRPr>
            </a:pPr>
            <a:endParaRPr lang="en-US"/>
          </a:p>
        </c:txPr>
        <c:crossAx val="2094734552"/>
        <c:crosses val="autoZero"/>
        <c:auto val="1"/>
        <c:lblAlgn val="ctr"/>
        <c:noMultiLvlLbl val="1"/>
      </c:catAx>
      <c:valAx>
        <c:axId val="2094734552"/>
        <c:scaling>
          <c:orientation val="minMax"/>
          <c:max val="4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ChadaTech asked our team to pilot Scrum-Agile on the SNHU Travel app so leadership can decide whether to move every development team. In the next few minutes I cover the roles, the phases, how waterfall would have handled our biggest problem, and the factors for choosing between the two. I close with a recommendation. AI use is disclosed on the references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headline is simple (these figures are industry-wide, not pilot measurements): adopt Scrum-Agile as the default, but tailor it. Digital.ai’s 2024 State of Agile report found 71 percent of respondents use Agile in their software development life cycle, with about 60 percent reporting better collaboration and 57 percent better alignment with business needs. Our SNHU Travel pilot supports this, as the next slides show.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Scrum defines three accountabilities. The Product Owner maximizes the value of the product and orders the backlog; in our pilot that meant reordering it when the client chose detox and wellness travel. The Scrum Master is accountable for establishing Scrum and helping the team improve; As Scrum Master, I set a 15-minute Daily Scrum, a rule that blockers come straight to me, and a Definition of Done. Christy ran the focus group and ranked personalization first. Developers, which includes Nicole and our tester Brian, create the increment and uphold the Definition of Done. Sassa and colleagues note that the traditional project manager’s duties are spread across these roles.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waterfall each SDLC phase happens once, in order. In Scrum-Agile the same phases happen inside every sprint of one month or less. Requirements are refined and planned into a Sprint Goal, design happens story by story, building is synchronized by the Daily Scrum, testing is inside the sprint against acceptance criteria and the Definition of Done, each Increment is releasable, and the Sprint Review and Retrospective drive maintenance and improvement. Thesing and colleagues describe the contrast as plan-driven versus iterative, test-driven methods.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our biggest problem: management found an industry report and redirected SNHU Travel toward detox and wellness travel. In a waterfall model the requirements and design were already approved, so the pivot would arrive as a change request during Build and reopen earlier phases. A defect like the missing picture Nicole found in the exported JAR, caused by a file-name capitalization mismatch, would also surface only in the Test phase. In Scrum-Agile Christy kept the dates and reordered the backlog, and Nicole changed only the title, five picture references, and five captions. Thesing and colleagues characterize classical waterfall as plan-driven.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Thesing, Feldmann, and Burchardt built a 15-criterion decision model in five areas: scope, time, costs, organizational context, and project-team characteristics, from a literature analysis and 15 practitioner interviews. I use those five areas as the factors. The first three columns are how each factor tends to point; the last column is our evidence. SNHU Travel had stories from only three customers, a Product Owner reachable for questions, a four-person cross-functional team, and a pivot, all of which favor Agile. For fixed-scope, heavily regulated work, the left column would win. PMBOK 7 also emphasizes tailoring the approach to the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Hybrid approaches grew from 20 percent in 2020 to 31.5 percent in 2023 in PMI’s Pulse research, as reported by Conforto, which supports a fit-for-purpose posture rather than one framework everywhere. My four recommendations: default to Scrum-Agile where requirements evolve, keep waterfall or hybrids for fixed-scope or regulated work, train Product Owners and Scrum Masters first because Digital.ai found leadership understanding and resistance to change are top barriers, and give every team one shared board, because our backlog, test cases, and questions were split across a spreadsheet, a workbook, and email.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sources are cited in APA style. Five are from the last five years: Thesing et al. 2021, PMI 2021, Sassa et al. 2023, Digital.ai 2024, and Conforto 2024. The Scrum Guide 2020 is the authoritative definition of the roles and events. AI assistance is disclosed per the course guidelines.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1"/>
        </a:solidFill>
      </p:bgPr>
    </p:bg>
    <p:spTree>
      <p:nvGrpSpPr>
        <p:cNvPr id="1" name=""/>
        <p:cNvGrpSpPr/>
        <p:nvPr/>
      </p:nvGrpSpPr>
      <p:grpSpPr>
        <a:xfrm>
          <a:off x="0" y="0"/>
          <a:ext cx="0" cy="0"/>
          <a:chOff x="0" y="0"/>
          <a:chExt cx="0" cy="0"/>
        </a:xfrm>
      </p:grpSpPr>
      <p:sp>
        <p:nvSpPr>
          <p:cNvPr id="2" name="Shape 0"/>
          <p:cNvSpPr/>
          <p:nvPr/>
        </p:nvSpPr>
        <p:spPr>
          <a:xfrm>
            <a:off x="5394960" y="0"/>
            <a:ext cx="3749040" cy="5143500"/>
          </a:xfrm>
          <a:prstGeom prst="rect">
            <a:avLst/>
          </a:prstGeom>
          <a:solidFill>
            <a:schemeClr val="bg1"/>
          </a:solidFill>
          <a:ln/>
        </p:spPr>
      </p:sp>
      <p:sp>
        <p:nvSpPr>
          <p:cNvPr id="3" name="Text 1"/>
          <p:cNvSpPr/>
          <p:nvPr>
            <p:ph idx="101" type="title" hasCustomPrompt="1"/>
          </p:nvPr>
        </p:nvSpPr>
        <p:spPr>
          <a:xfrm>
            <a:off x="548640" y="1234440"/>
            <a:ext cx="4572000" cy="1554480"/>
          </a:xfrm>
          <a:prstGeom prst="rect">
            <a:avLst/>
          </a:prstGeom>
          <a:noFill/>
          <a:ln/>
        </p:spPr>
        <p:txBody>
          <a:bodyPr wrap="square" rtlCol="0"/>
          <a:lstStyle>
            <a:lvl1pPr algn="l" indent="0" marL="0">
              <a:buNone/>
              <a:defRPr lang="en-US" sz="3600" b="1" dirty="0">
                <a:solidFill>
                  <a:schemeClr val="bg1"/>
                </a:solidFill>
                <a:latin typeface="Calibri" pitchFamily="34" charset="0"/>
                <a:ea typeface="Calibri" pitchFamily="34" charset="-122"/>
                <a:cs typeface="Calibri" pitchFamily="34" charset="-120"/>
              </a:defRPr>
            </a:lvl1pPr>
          </a:lstStyle>
          <a:p>
            <a:pPr algn="l" indent="0" marL="0">
              <a:buNone/>
            </a:pPr>
            <a:endParaRPr lang="en-US" sz="3600" dirty="0"/>
          </a:p>
        </p:txBody>
      </p:sp>
      <p:sp>
        <p:nvSpPr>
          <p:cNvPr id="4" name="Text 1"/>
          <p:cNvSpPr/>
          <p:nvPr>
            <p:ph idx="102" type="body" hasCustomPrompt="1"/>
          </p:nvPr>
        </p:nvSpPr>
        <p:spPr>
          <a:xfrm>
            <a:off x="548640" y="2880360"/>
            <a:ext cx="4572000" cy="731520"/>
          </a:xfrm>
          <a:prstGeom prst="rect">
            <a:avLst/>
          </a:prstGeom>
          <a:noFill/>
          <a:ln/>
        </p:spPr>
        <p:txBody>
          <a:bodyPr wrap="square" rtlCol="0"/>
          <a:lstStyle>
            <a:lvl1pPr algn="l" indent="0" marL="0">
              <a:buNone/>
              <a:defRPr lang="en-US" sz="1800" dirty="0">
                <a:solidFill>
                  <a:schemeClr val="accent1"/>
                </a:solidFill>
                <a:latin typeface="Calibri" pitchFamily="34" charset="0"/>
                <a:ea typeface="Calibri" pitchFamily="34" charset="-122"/>
                <a:cs typeface="Calibri" pitchFamily="34" charset="-120"/>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rtlCol="0"/>
          <a:lstStyle>
            <a:lvl1pPr algn="l" indent="0" marL="0">
              <a:buNone/>
              <a:defRPr lang="en-US" sz="3000" b="1" dirty="0">
                <a:solidFill>
                  <a:schemeClr val="tx1"/>
                </a:solidFill>
                <a:latin typeface="Calibri" pitchFamily="34" charset="0"/>
                <a:ea typeface="Calibri" pitchFamily="34" charset="-122"/>
                <a:cs typeface="Calibri" pitchFamily="34" charset="-120"/>
              </a:defRPr>
            </a:lvl1pPr>
          </a:lstStyle>
          <a:p>
            <a:pPr algn="l" indent="0" marL="0">
              <a:buNone/>
            </a:pPr>
            <a:endParaRPr lang="en-US" sz="3000" dirty="0"/>
          </a:p>
        </p:txBody>
      </p:sp>
      <p:sp>
        <p:nvSpPr>
          <p:cNvPr id="3" name="Text 0"/>
          <p:cNvSpPr/>
          <p:nvPr/>
        </p:nvSpPr>
        <p:spPr>
          <a:xfrm>
            <a:off x="457200" y="4736592"/>
            <a:ext cx="4572000" cy="274320"/>
          </a:xfrm>
          <a:prstGeom prst="rect">
            <a:avLst/>
          </a:prstGeom>
          <a:noFill/>
          <a:ln/>
        </p:spPr>
        <p:txBody>
          <a:bodyPr wrap="square" lIns="0" tIns="0" rIns="0" bIns="0" rtlCol="0" anchor="ctr"/>
          <a:lstStyle/>
          <a:p>
            <a:pPr indent="0" marL="0">
              <a:buNone/>
            </a:pPr>
            <a:r>
              <a:rPr lang="en-US" sz="1000" dirty="0">
                <a:solidFill>
                  <a:schemeClr val="accent5"/>
                </a:solidFill>
                <a:latin typeface="Calibri" pitchFamily="34" charset="0"/>
                <a:ea typeface="Calibri" pitchFamily="34" charset="-122"/>
                <a:cs typeface="Calibri" pitchFamily="34" charset="-120"/>
              </a:rPr>
              <a:t>ChadaTech  |  Scrum-Agile pilot review</a:t>
            </a:r>
            <a:endParaRPr lang="en-US" sz="1000" dirty="0"/>
          </a:p>
        </p:txBody>
      </p:sp>
      <p:sp>
        <p:nvSpPr>
          <p:cNvPr id="25" name="Slide Number Placeholder 0"/>
          <p:cNvSpPr>
            <a:spLocks noGrp="1"/>
          </p:cNvSpPr>
          <p:nvPr>
            <p:ph type="sldNum" sz="quarter" idx="4294967295"/>
          </p:nvPr>
        </p:nvSpPr>
        <p:spPr>
          <a:xfrm>
            <a:off x="8321040" y="473659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3659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p:nvPr>
            <p:ph idx="101" type="title" hasCustomPrompt="1"/>
          </p:nvPr>
        </p:nvSpPr>
        <p:spPr>
          <a:xfrm>
            <a:off x="548640" y="1234440"/>
            <a:ext cx="4572000" cy="1554480"/>
          </a:xfrm>
          <a:prstGeom prst="rect">
            <a:avLst/>
          </a:prstGeom>
          <a:noFill/>
          <a:ln/>
        </p:spPr>
        <p:txBody>
          <a:bodyPr wrap="square" lIns="0" tIns="0" rIns="0" bIns="0" rtlCol="0" anchor="t"/>
          <a:lstStyle/>
          <a:p>
            <a:pPr algn="l" indent="0" marL="0">
              <a:buNone/>
            </a:pPr>
            <a:r>
              <a:rPr lang="en-US" sz="3600" b="1" dirty="0">
                <a:solidFill>
                  <a:schemeClr val="bg1"/>
                </a:solidFill>
                <a:latin typeface="Calibri" pitchFamily="34" charset="0"/>
                <a:ea typeface="Calibri" pitchFamily="34" charset="-122"/>
                <a:cs typeface="Calibri" pitchFamily="34" charset="-120"/>
              </a:rPr>
              <a:t>Is Scrum-Agile right for ChadaTech?</a:t>
            </a:r>
            <a:endParaRPr lang="en-US" sz="3600" dirty="0"/>
          </a:p>
        </p:txBody>
      </p:sp>
      <p:sp>
        <p:nvSpPr>
          <p:cNvPr id="3" name="Text 1"/>
          <p:cNvSpPr/>
          <p:nvPr>
            <p:ph idx="102" type="body" hasCustomPrompt="1"/>
          </p:nvPr>
        </p:nvSpPr>
        <p:spPr>
          <a:xfrm>
            <a:off x="548640" y="2880360"/>
            <a:ext cx="4572000" cy="731520"/>
          </a:xfrm>
          <a:prstGeom prst="rect">
            <a:avLst/>
          </a:prstGeom>
          <a:noFill/>
          <a:ln/>
        </p:spPr>
        <p:txBody>
          <a:bodyPr wrap="square" lIns="0" tIns="0" rIns="0" bIns="0" rtlCol="0" anchor="t"/>
          <a:lstStyle/>
          <a:p>
            <a:pPr algn="l" indent="0" marL="0">
              <a:buNone/>
            </a:pPr>
            <a:r>
              <a:rPr lang="en-US" sz="1800" dirty="0">
                <a:solidFill>
                  <a:schemeClr val="accent1"/>
                </a:solidFill>
                <a:latin typeface="Calibri" pitchFamily="34" charset="0"/>
                <a:ea typeface="Calibri" pitchFamily="34" charset="-122"/>
                <a:cs typeface="Calibri" pitchFamily="34" charset="-120"/>
              </a:rPr>
              <a:t>Lessons from the SNHU Travel pilot</a:t>
            </a:r>
            <a:endParaRPr lang="en-US" sz="1800" dirty="0"/>
          </a:p>
        </p:txBody>
      </p:sp>
      <p:sp>
        <p:nvSpPr>
          <p:cNvPr id="4" name="Presenter"/>
          <p:cNvSpPr txBox="1"/>
          <p:nvPr/>
        </p:nvSpPr>
        <p:spPr>
          <a:xfrm>
            <a:off x="548640" y="3840480"/>
            <a:ext cx="4572000" cy="868680"/>
          </a:xfrm>
          <a:prstGeom prst="rect">
            <a:avLst/>
          </a:prstGeom>
          <a:noFill/>
          <a:ln/>
        </p:spPr>
        <p:txBody>
          <a:bodyPr wrap="square" lIns="0" tIns="0" rIns="0" bIns="0" rtlCol="0" anchor="ctr"/>
          <a:lstStyle/>
          <a:p>
            <a:pPr indent="0" marL="0">
              <a:buNone/>
            </a:pPr>
            <a:r>
              <a:rPr lang="en-US" sz="1400" dirty="0">
                <a:solidFill>
                  <a:schemeClr val="bg1"/>
                </a:solidFill>
              </a:rPr>
              <a:t>Mutia Aminu Jimbah, Scrum Master</a:t>
            </a:r>
            <a:endParaRPr lang="en-US" sz="1400" dirty="0"/>
          </a:p>
          <a:p>
            <a:pPr indent="0" marL="0">
              <a:buNone/>
            </a:pPr>
            <a:r>
              <a:rPr lang="en-US" sz="1400" dirty="0">
                <a:solidFill>
                  <a:schemeClr val="bg1"/>
                </a:solidFill>
              </a:rPr>
              <a:t>CS 250 Final Project  |  Instructor: Maryann Kupa</a:t>
            </a:r>
            <a:endParaRPr lang="en-US" sz="1400" dirty="0"/>
          </a:p>
          <a:p>
            <a:pPr indent="0" marL="0">
              <a:buNone/>
            </a:pPr>
            <a:r>
              <a:rPr lang="en-US" sz="1400" dirty="0">
                <a:solidFill>
                  <a:schemeClr val="bg1"/>
                </a:solidFill>
              </a:rPr>
              <a:t>October 19, 2026</a:t>
            </a:r>
            <a:endParaRPr lang="en-US" sz="1400" dirty="0"/>
          </a:p>
        </p:txBody>
      </p:sp>
      <p:pic>
        <p:nvPicPr>
          <p:cNvPr id="5" name="ChadaTech logo" descr="ChadaTech logo">    </p:cNvPr>
          <p:cNvPicPr>
            <a:picLocks noChangeAspect="1"/>
          </p:cNvPicPr>
          <p:nvPr/>
        </p:nvPicPr>
        <p:blipFill>
          <a:blip r:embed="rId1"/>
          <a:stretch>
            <a:fillRect/>
          </a:stretch>
        </p:blipFill>
        <p:spPr>
          <a:xfrm>
            <a:off x="5715000" y="1417320"/>
            <a:ext cx="3108960" cy="2286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latin typeface="Calibri" pitchFamily="34" charset="0"/>
                <a:ea typeface="Calibri" pitchFamily="34" charset="-122"/>
                <a:cs typeface="Calibri" pitchFamily="34" charset="-120"/>
              </a:rPr>
              <a:t>Recommendation: adopt Scrum-Agile</a:t>
            </a:r>
            <a:endParaRPr lang="en-US" sz="3000" dirty="0"/>
          </a:p>
        </p:txBody>
      </p:sp>
      <p:sp>
        <p:nvSpPr>
          <p:cNvPr id="3" name="Stat card 1"/>
          <p:cNvSpPr/>
          <p:nvPr/>
        </p:nvSpPr>
        <p:spPr>
          <a:xfrm>
            <a:off x="457200" y="1188720"/>
            <a:ext cx="2560320" cy="1965960"/>
          </a:xfrm>
          <a:prstGeom prst="roundRect">
            <a:avLst>
              <a:gd name="adj" fmla="val 5581"/>
            </a:avLst>
          </a:prstGeom>
          <a:solidFill>
            <a:schemeClr val="bg2"/>
          </a:solidFill>
          <a:ln/>
        </p:spPr>
      </p:sp>
      <p:sp>
        <p:nvSpPr>
          <p:cNvPr id="4" name="Text 2"/>
          <p:cNvSpPr txBox="1"/>
          <p:nvPr/>
        </p:nvSpPr>
        <p:spPr>
          <a:xfrm>
            <a:off x="640080" y="1280160"/>
            <a:ext cx="2194560" cy="868680"/>
          </a:xfrm>
          <a:prstGeom prst="rect">
            <a:avLst/>
          </a:prstGeom>
          <a:noFill/>
          <a:ln/>
        </p:spPr>
        <p:txBody>
          <a:bodyPr wrap="square" lIns="0" tIns="0" rIns="0" bIns="0" rtlCol="0" anchor="ctr"/>
          <a:lstStyle/>
          <a:p>
            <a:pPr indent="0" marL="0">
              <a:buNone/>
            </a:pPr>
            <a:r>
              <a:rPr lang="en-US" sz="5400" b="1" dirty="0">
                <a:solidFill>
                  <a:schemeClr val="accent2"/>
                </a:solidFill>
              </a:rPr>
              <a:t>71%</a:t>
            </a:r>
            <a:endParaRPr lang="en-US" sz="5400" dirty="0"/>
          </a:p>
        </p:txBody>
      </p:sp>
      <p:sp>
        <p:nvSpPr>
          <p:cNvPr id="5" name="Text 3"/>
          <p:cNvSpPr txBox="1"/>
          <p:nvPr/>
        </p:nvSpPr>
        <p:spPr>
          <a:xfrm>
            <a:off x="640080" y="2194560"/>
            <a:ext cx="2194560" cy="868680"/>
          </a:xfrm>
          <a:prstGeom prst="rect">
            <a:avLst/>
          </a:prstGeom>
          <a:noFill/>
          <a:ln/>
        </p:spPr>
        <p:txBody>
          <a:bodyPr wrap="square" lIns="0" tIns="0" rIns="0" bIns="0" rtlCol="0" anchor="t"/>
          <a:lstStyle/>
          <a:p>
            <a:pPr indent="0" marL="0">
              <a:buNone/>
            </a:pPr>
            <a:r>
              <a:rPr lang="en-US" sz="1400" dirty="0">
                <a:solidFill>
                  <a:schemeClr val="tx1"/>
                </a:solidFill>
              </a:rPr>
              <a:t>of surveyed teams use Agile in their software development life cycle</a:t>
            </a:r>
            <a:endParaRPr lang="en-US" sz="1400" dirty="0"/>
          </a:p>
        </p:txBody>
      </p:sp>
      <p:sp>
        <p:nvSpPr>
          <p:cNvPr id="6" name="Stat card 2"/>
          <p:cNvSpPr/>
          <p:nvPr/>
        </p:nvSpPr>
        <p:spPr>
          <a:xfrm>
            <a:off x="3291840" y="1188720"/>
            <a:ext cx="2560320" cy="1965960"/>
          </a:xfrm>
          <a:prstGeom prst="roundRect">
            <a:avLst>
              <a:gd name="adj" fmla="val 5581"/>
            </a:avLst>
          </a:prstGeom>
          <a:solidFill>
            <a:schemeClr val="bg2"/>
          </a:solidFill>
          <a:ln/>
        </p:spPr>
      </p:sp>
      <p:sp>
        <p:nvSpPr>
          <p:cNvPr id="7" name="Text 5"/>
          <p:cNvSpPr txBox="1"/>
          <p:nvPr/>
        </p:nvSpPr>
        <p:spPr>
          <a:xfrm>
            <a:off x="3474720" y="1280160"/>
            <a:ext cx="2194560" cy="868680"/>
          </a:xfrm>
          <a:prstGeom prst="rect">
            <a:avLst/>
          </a:prstGeom>
          <a:noFill/>
          <a:ln/>
        </p:spPr>
        <p:txBody>
          <a:bodyPr wrap="square" lIns="0" tIns="0" rIns="0" bIns="0" rtlCol="0" anchor="ctr"/>
          <a:lstStyle/>
          <a:p>
            <a:pPr indent="0" marL="0">
              <a:buNone/>
            </a:pPr>
            <a:r>
              <a:rPr lang="en-US" sz="5400" b="1" dirty="0">
                <a:solidFill>
                  <a:schemeClr val="accent2"/>
                </a:solidFill>
              </a:rPr>
              <a:t>~60%</a:t>
            </a:r>
            <a:endParaRPr lang="en-US" sz="5400" dirty="0"/>
          </a:p>
        </p:txBody>
      </p:sp>
      <p:sp>
        <p:nvSpPr>
          <p:cNvPr id="8" name="Text 6"/>
          <p:cNvSpPr txBox="1"/>
          <p:nvPr/>
        </p:nvSpPr>
        <p:spPr>
          <a:xfrm>
            <a:off x="3474720" y="2194560"/>
            <a:ext cx="2194560" cy="868680"/>
          </a:xfrm>
          <a:prstGeom prst="rect">
            <a:avLst/>
          </a:prstGeom>
          <a:noFill/>
          <a:ln/>
        </p:spPr>
        <p:txBody>
          <a:bodyPr wrap="square" lIns="0" tIns="0" rIns="0" bIns="0" rtlCol="0" anchor="t"/>
          <a:lstStyle/>
          <a:p>
            <a:pPr indent="0" marL="0">
              <a:buNone/>
            </a:pPr>
            <a:r>
              <a:rPr lang="en-US" sz="1400" dirty="0">
                <a:solidFill>
                  <a:schemeClr val="tx1"/>
                </a:solidFill>
              </a:rPr>
              <a:t>report improved collaboration</a:t>
            </a:r>
            <a:endParaRPr lang="en-US" sz="1400" dirty="0"/>
          </a:p>
        </p:txBody>
      </p:sp>
      <p:sp>
        <p:nvSpPr>
          <p:cNvPr id="9" name="Stat card 3"/>
          <p:cNvSpPr/>
          <p:nvPr/>
        </p:nvSpPr>
        <p:spPr>
          <a:xfrm>
            <a:off x="6126480" y="1188720"/>
            <a:ext cx="2560320" cy="1965960"/>
          </a:xfrm>
          <a:prstGeom prst="roundRect">
            <a:avLst>
              <a:gd name="adj" fmla="val 5581"/>
            </a:avLst>
          </a:prstGeom>
          <a:solidFill>
            <a:schemeClr val="bg2"/>
          </a:solidFill>
          <a:ln/>
        </p:spPr>
      </p:sp>
      <p:sp>
        <p:nvSpPr>
          <p:cNvPr id="10" name="Text 8"/>
          <p:cNvSpPr txBox="1"/>
          <p:nvPr/>
        </p:nvSpPr>
        <p:spPr>
          <a:xfrm>
            <a:off x="6309360" y="1280160"/>
            <a:ext cx="2194560" cy="868680"/>
          </a:xfrm>
          <a:prstGeom prst="rect">
            <a:avLst/>
          </a:prstGeom>
          <a:noFill/>
          <a:ln/>
        </p:spPr>
        <p:txBody>
          <a:bodyPr wrap="square" lIns="0" tIns="0" rIns="0" bIns="0" rtlCol="0" anchor="ctr"/>
          <a:lstStyle/>
          <a:p>
            <a:pPr indent="0" marL="0">
              <a:buNone/>
            </a:pPr>
            <a:r>
              <a:rPr lang="en-US" sz="5400" b="1" dirty="0">
                <a:solidFill>
                  <a:schemeClr val="accent2"/>
                </a:solidFill>
              </a:rPr>
              <a:t>57%</a:t>
            </a:r>
            <a:endParaRPr lang="en-US" sz="5400" dirty="0"/>
          </a:p>
        </p:txBody>
      </p:sp>
      <p:sp>
        <p:nvSpPr>
          <p:cNvPr id="11" name="Text 9"/>
          <p:cNvSpPr txBox="1"/>
          <p:nvPr/>
        </p:nvSpPr>
        <p:spPr>
          <a:xfrm>
            <a:off x="6309360" y="2194560"/>
            <a:ext cx="2194560" cy="868680"/>
          </a:xfrm>
          <a:prstGeom prst="rect">
            <a:avLst/>
          </a:prstGeom>
          <a:noFill/>
          <a:ln/>
        </p:spPr>
        <p:txBody>
          <a:bodyPr wrap="square" lIns="0" tIns="0" rIns="0" bIns="0" rtlCol="0" anchor="t"/>
          <a:lstStyle/>
          <a:p>
            <a:pPr indent="0" marL="0">
              <a:buNone/>
            </a:pPr>
            <a:r>
              <a:rPr lang="en-US" sz="1400" dirty="0">
                <a:solidFill>
                  <a:schemeClr val="tx1"/>
                </a:solidFill>
              </a:rPr>
              <a:t>report better alignment with business needs</a:t>
            </a:r>
            <a:endParaRPr lang="en-US" sz="1400" dirty="0"/>
          </a:p>
        </p:txBody>
      </p:sp>
      <p:sp>
        <p:nvSpPr>
          <p:cNvPr id="12" name="Recommendation box"/>
          <p:cNvSpPr/>
          <p:nvPr/>
        </p:nvSpPr>
        <p:spPr>
          <a:xfrm>
            <a:off x="457200" y="3383280"/>
            <a:ext cx="8229600" cy="914400"/>
          </a:xfrm>
          <a:prstGeom prst="roundRect">
            <a:avLst>
              <a:gd name="adj" fmla="val 12000"/>
            </a:avLst>
          </a:prstGeom>
          <a:solidFill>
            <a:schemeClr val="tx1"/>
          </a:solidFill>
          <a:ln/>
        </p:spPr>
      </p:sp>
      <p:sp>
        <p:nvSpPr>
          <p:cNvPr id="13" name="Text 11"/>
          <p:cNvSpPr txBox="1"/>
          <p:nvPr/>
        </p:nvSpPr>
        <p:spPr>
          <a:xfrm>
            <a:off x="685800" y="3429000"/>
            <a:ext cx="7772400" cy="822960"/>
          </a:xfrm>
          <a:prstGeom prst="rect">
            <a:avLst/>
          </a:prstGeom>
          <a:noFill/>
          <a:ln/>
        </p:spPr>
        <p:txBody>
          <a:bodyPr wrap="square" lIns="0" tIns="0" rIns="0" bIns="0" rtlCol="0" anchor="ctr"/>
          <a:lstStyle/>
          <a:p>
            <a:pPr indent="0" marL="0">
              <a:buNone/>
            </a:pPr>
            <a:r>
              <a:rPr lang="en-US" sz="1600" b="1" dirty="0">
                <a:solidFill>
                  <a:schemeClr val="accent1"/>
                </a:solidFill>
              </a:rPr>
              <a:t>Our pilot supports this. </a:t>
            </a:r>
            <a:pPr indent="0" marL="0">
              <a:buNone/>
            </a:pPr>
            <a:r>
              <a:rPr lang="en-US" sz="1600" dirty="0">
                <a:solidFill>
                  <a:schemeClr val="bg1"/>
                </a:solidFill>
              </a:rPr>
              <a:t>Make Scrum-Agile the default for projects with evolving requirements, keep waterfall for fixed-scope or regulated work, and tailor the approach to each project.</a:t>
            </a:r>
            <a:endParaRPr lang="en-US" sz="1600" dirty="0"/>
          </a:p>
        </p:txBody>
      </p:sp>
      <p:sp>
        <p:nvSpPr>
          <p:cNvPr id="14" name="Source note"/>
          <p:cNvSpPr txBox="1"/>
          <p:nvPr/>
        </p:nvSpPr>
        <p:spPr>
          <a:xfrm>
            <a:off x="457200" y="4407408"/>
            <a:ext cx="8229600" cy="256032"/>
          </a:xfrm>
          <a:prstGeom prst="rect">
            <a:avLst/>
          </a:prstGeom>
          <a:noFill/>
          <a:ln/>
        </p:spPr>
        <p:txBody>
          <a:bodyPr wrap="square" lIns="0" tIns="0" rIns="0" bIns="0" rtlCol="0" anchor="ctr"/>
          <a:lstStyle/>
          <a:p>
            <a:pPr indent="0" marL="0">
              <a:buNone/>
            </a:pPr>
            <a:r>
              <a:rPr lang="en-US" sz="1000" dirty="0">
                <a:solidFill>
                  <a:schemeClr val="accent5"/>
                </a:solidFill>
              </a:rPr>
              <a:t>Source: Digital.ai (2024), 17th State of Agile report.</a:t>
            </a:r>
            <a:endParaRPr lang="en-US" sz="1000" dirty="0"/>
          </a:p>
        </p:txBody>
      </p:sp>
      <p:sp>
        <p:nvSpPr>
          <p:cNvPr id="25" name="Slide Number Placeholder 0"/>
          <p:cNvSpPr>
            <a:spLocks noGrp="1"/>
          </p:cNvSpPr>
          <p:nvPr>
            <p:ph type="sldNum" sz="quarter" idx="4294967295"/>
          </p:nvPr>
        </p:nvSpPr>
        <p:spPr>
          <a:xfrm>
            <a:off x="8321040" y="473659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latin typeface="Calibri" pitchFamily="34" charset="0"/>
                <a:ea typeface="Calibri" pitchFamily="34" charset="-122"/>
                <a:cs typeface="Calibri" pitchFamily="34" charset="-120"/>
              </a:rPr>
              <a:t>Three accountabilities, four teammates</a:t>
            </a:r>
            <a:endParaRPr lang="en-US" sz="3000" dirty="0"/>
          </a:p>
        </p:txBody>
      </p:sp>
      <p:sp>
        <p:nvSpPr>
          <p:cNvPr id="3" name="Role card Product Owner"/>
          <p:cNvSpPr/>
          <p:nvPr/>
        </p:nvSpPr>
        <p:spPr>
          <a:xfrm>
            <a:off x="457200" y="1097280"/>
            <a:ext cx="2560320" cy="3017520"/>
          </a:xfrm>
          <a:prstGeom prst="roundRect">
            <a:avLst>
              <a:gd name="adj" fmla="val 4286"/>
            </a:avLst>
          </a:prstGeom>
          <a:solidFill>
            <a:schemeClr val="bg2"/>
          </a:solidFill>
          <a:ln/>
          <a:effectLst>
            <a:outerShdw sx="100000" sy="100000" kx="0" ky="0" algn="bl" rotWithShape="0" blurRad="76200" dist="25400" dir="5400000">
              <a:srgbClr val="000000">
                <a:alpha val="12000"/>
              </a:srgbClr>
            </a:outerShdw>
          </a:effectLst>
        </p:spPr>
      </p:sp>
      <p:sp>
        <p:nvSpPr>
          <p:cNvPr id="4" name="Icon circle"/>
          <p:cNvSpPr/>
          <p:nvPr/>
        </p:nvSpPr>
        <p:spPr>
          <a:xfrm>
            <a:off x="640080" y="1234440"/>
            <a:ext cx="548640" cy="548640"/>
          </a:xfrm>
          <a:prstGeom prst="ellipse">
            <a:avLst/>
          </a:prstGeom>
          <a:solidFill>
            <a:schemeClr val="accent1"/>
          </a:solidFill>
          <a:ln/>
        </p:spPr>
      </p:sp>
      <p:pic>
        <p:nvPicPr>
          <p:cNvPr id="5" name="Image 0" descr="Product Owner icon">    </p:cNvPr>
          <p:cNvPicPr>
            <a:picLocks noChangeAspect="1"/>
          </p:cNvPicPr>
          <p:nvPr/>
        </p:nvPicPr>
        <p:blipFill>
          <a:blip r:embed="rId1"/>
          <a:stretch>
            <a:fillRect/>
          </a:stretch>
        </p:blipFill>
        <p:spPr>
          <a:xfrm>
            <a:off x="768096" y="1362456"/>
            <a:ext cx="292608" cy="292608"/>
          </a:xfrm>
          <a:prstGeom prst="rect">
            <a:avLst/>
          </a:prstGeom>
        </p:spPr>
      </p:pic>
      <p:sp>
        <p:nvSpPr>
          <p:cNvPr id="6" name="Text 3"/>
          <p:cNvSpPr txBox="1"/>
          <p:nvPr/>
        </p:nvSpPr>
        <p:spPr>
          <a:xfrm>
            <a:off x="1325880" y="1234440"/>
            <a:ext cx="1600200" cy="548640"/>
          </a:xfrm>
          <a:prstGeom prst="rect">
            <a:avLst/>
          </a:prstGeom>
          <a:noFill/>
          <a:ln/>
        </p:spPr>
        <p:txBody>
          <a:bodyPr wrap="square" lIns="0" tIns="0" rIns="0" bIns="0" rtlCol="0" anchor="ctr"/>
          <a:lstStyle/>
          <a:p>
            <a:pPr indent="0" marL="0">
              <a:buNone/>
            </a:pPr>
            <a:r>
              <a:rPr lang="en-US" sz="1800" b="1" dirty="0">
                <a:solidFill>
                  <a:schemeClr val="tx1"/>
                </a:solidFill>
              </a:rPr>
              <a:t>Product Owner</a:t>
            </a:r>
            <a:endParaRPr lang="en-US" sz="1800" dirty="0"/>
          </a:p>
        </p:txBody>
      </p:sp>
      <p:sp>
        <p:nvSpPr>
          <p:cNvPr id="7" name="Text 4"/>
          <p:cNvSpPr txBox="1"/>
          <p:nvPr/>
        </p:nvSpPr>
        <p:spPr>
          <a:xfrm>
            <a:off x="640080" y="1874520"/>
            <a:ext cx="2194560" cy="457200"/>
          </a:xfrm>
          <a:prstGeom prst="rect">
            <a:avLst/>
          </a:prstGeom>
          <a:noFill/>
          <a:ln/>
        </p:spPr>
        <p:txBody>
          <a:bodyPr wrap="square" lIns="0" tIns="0" rIns="0" bIns="0" rtlCol="0" anchor="t"/>
          <a:lstStyle/>
          <a:p>
            <a:pPr indent="0" marL="0">
              <a:buNone/>
            </a:pPr>
            <a:r>
              <a:rPr lang="en-US" sz="1400" b="1" dirty="0">
                <a:solidFill>
                  <a:schemeClr val="accent2"/>
                </a:solidFill>
              </a:rPr>
              <a:t>Owns the value and the backlog</a:t>
            </a:r>
            <a:endParaRPr lang="en-US" sz="1400" dirty="0"/>
          </a:p>
        </p:txBody>
      </p:sp>
      <p:sp>
        <p:nvSpPr>
          <p:cNvPr id="8" name="Text 5"/>
          <p:cNvSpPr txBox="1"/>
          <p:nvPr/>
        </p:nvSpPr>
        <p:spPr>
          <a:xfrm>
            <a:off x="640080" y="2377440"/>
            <a:ext cx="2194560" cy="777240"/>
          </a:xfrm>
          <a:prstGeom prst="rect">
            <a:avLst/>
          </a:prstGeom>
          <a:noFill/>
          <a:ln/>
        </p:spPr>
        <p:txBody>
          <a:bodyPr wrap="square" lIns="0" tIns="0" rIns="0" bIns="0" rtlCol="0" anchor="t"/>
          <a:lstStyle/>
          <a:p>
            <a:pPr indent="0" marL="0">
              <a:buNone/>
            </a:pPr>
            <a:r>
              <a:rPr lang="en-US" sz="1000" b="1" dirty="0">
                <a:solidFill>
                  <a:schemeClr val="accent5"/>
                </a:solidFill>
              </a:rPr>
              <a:t>WHY IT MATTERS</a:t>
            </a:r>
            <a:endParaRPr lang="en-US" sz="1000" dirty="0"/>
          </a:p>
          <a:p>
            <a:pPr indent="0" marL="0">
              <a:buNone/>
            </a:pPr>
            <a:r>
              <a:rPr lang="en-US" sz="1400" dirty="0">
                <a:solidFill>
                  <a:schemeClr val="tx1"/>
                </a:solidFill>
              </a:rPr>
              <a:t>Keeps the team building what the client needs most.</a:t>
            </a:r>
            <a:endParaRPr lang="en-US" sz="1000" dirty="0"/>
          </a:p>
        </p:txBody>
      </p:sp>
      <p:sp>
        <p:nvSpPr>
          <p:cNvPr id="9" name="Text 6"/>
          <p:cNvSpPr txBox="1"/>
          <p:nvPr/>
        </p:nvSpPr>
        <p:spPr>
          <a:xfrm>
            <a:off x="640080" y="3200400"/>
            <a:ext cx="2194560" cy="868680"/>
          </a:xfrm>
          <a:prstGeom prst="rect">
            <a:avLst/>
          </a:prstGeom>
          <a:noFill/>
          <a:ln/>
        </p:spPr>
        <p:txBody>
          <a:bodyPr wrap="square" lIns="0" tIns="0" rIns="0" bIns="0" rtlCol="0" anchor="t"/>
          <a:lstStyle/>
          <a:p>
            <a:pPr indent="0" marL="0">
              <a:buNone/>
            </a:pPr>
            <a:r>
              <a:rPr lang="en-US" sz="1000" b="1" dirty="0">
                <a:solidFill>
                  <a:schemeClr val="accent5"/>
                </a:solidFill>
              </a:rPr>
              <a:t>SNHU TRAVEL</a:t>
            </a:r>
            <a:endParaRPr lang="en-US" sz="1000" dirty="0"/>
          </a:p>
          <a:p>
            <a:pPr indent="0" marL="0">
              <a:buNone/>
            </a:pPr>
            <a:r>
              <a:rPr lang="en-US" sz="1400" dirty="0">
                <a:solidFill>
                  <a:schemeClr val="tx1"/>
                </a:solidFill>
              </a:rPr>
              <a:t>Christy ran the focus group and reordered the backlog for the pivot.</a:t>
            </a:r>
            <a:endParaRPr lang="en-US" sz="1000" dirty="0"/>
          </a:p>
        </p:txBody>
      </p:sp>
      <p:sp>
        <p:nvSpPr>
          <p:cNvPr id="10" name="Role card Scrum Master"/>
          <p:cNvSpPr/>
          <p:nvPr/>
        </p:nvSpPr>
        <p:spPr>
          <a:xfrm>
            <a:off x="3291840" y="1097280"/>
            <a:ext cx="2560320" cy="3017520"/>
          </a:xfrm>
          <a:prstGeom prst="roundRect">
            <a:avLst>
              <a:gd name="adj" fmla="val 4286"/>
            </a:avLst>
          </a:prstGeom>
          <a:solidFill>
            <a:schemeClr val="bg2"/>
          </a:solidFill>
          <a:ln/>
          <a:effectLst>
            <a:outerShdw sx="100000" sy="100000" kx="0" ky="0" algn="bl" rotWithShape="0" blurRad="76200" dist="25400" dir="5400000">
              <a:srgbClr val="000000">
                <a:alpha val="12000"/>
              </a:srgbClr>
            </a:outerShdw>
          </a:effectLst>
        </p:spPr>
      </p:sp>
      <p:sp>
        <p:nvSpPr>
          <p:cNvPr id="11" name="Icon circle"/>
          <p:cNvSpPr/>
          <p:nvPr/>
        </p:nvSpPr>
        <p:spPr>
          <a:xfrm>
            <a:off x="3474720" y="1234440"/>
            <a:ext cx="548640" cy="548640"/>
          </a:xfrm>
          <a:prstGeom prst="ellipse">
            <a:avLst/>
          </a:prstGeom>
          <a:solidFill>
            <a:schemeClr val="accent1"/>
          </a:solidFill>
          <a:ln/>
        </p:spPr>
      </p:sp>
      <p:pic>
        <p:nvPicPr>
          <p:cNvPr id="12" name="Image 1" descr="Scrum Master icon">    </p:cNvPr>
          <p:cNvPicPr>
            <a:picLocks noChangeAspect="1"/>
          </p:cNvPicPr>
          <p:nvPr/>
        </p:nvPicPr>
        <p:blipFill>
          <a:blip r:embed="rId2"/>
          <a:stretch>
            <a:fillRect/>
          </a:stretch>
        </p:blipFill>
        <p:spPr>
          <a:xfrm>
            <a:off x="3602736" y="1362456"/>
            <a:ext cx="292608" cy="292608"/>
          </a:xfrm>
          <a:prstGeom prst="rect">
            <a:avLst/>
          </a:prstGeom>
        </p:spPr>
      </p:pic>
      <p:sp>
        <p:nvSpPr>
          <p:cNvPr id="13" name="Text 9"/>
          <p:cNvSpPr txBox="1"/>
          <p:nvPr/>
        </p:nvSpPr>
        <p:spPr>
          <a:xfrm>
            <a:off x="4160520" y="1234440"/>
            <a:ext cx="1600200" cy="548640"/>
          </a:xfrm>
          <a:prstGeom prst="rect">
            <a:avLst/>
          </a:prstGeom>
          <a:noFill/>
          <a:ln/>
        </p:spPr>
        <p:txBody>
          <a:bodyPr wrap="square" lIns="0" tIns="0" rIns="0" bIns="0" rtlCol="0" anchor="ctr"/>
          <a:lstStyle/>
          <a:p>
            <a:pPr indent="0" marL="0">
              <a:buNone/>
            </a:pPr>
            <a:r>
              <a:rPr lang="en-US" sz="1800" b="1" dirty="0">
                <a:solidFill>
                  <a:schemeClr val="tx1"/>
                </a:solidFill>
              </a:rPr>
              <a:t>Scrum Master</a:t>
            </a:r>
            <a:endParaRPr lang="en-US" sz="1800" dirty="0"/>
          </a:p>
        </p:txBody>
      </p:sp>
      <p:sp>
        <p:nvSpPr>
          <p:cNvPr id="14" name="Text 10"/>
          <p:cNvSpPr txBox="1"/>
          <p:nvPr/>
        </p:nvSpPr>
        <p:spPr>
          <a:xfrm>
            <a:off x="3474720" y="1874520"/>
            <a:ext cx="2194560" cy="457200"/>
          </a:xfrm>
          <a:prstGeom prst="rect">
            <a:avLst/>
          </a:prstGeom>
          <a:noFill/>
          <a:ln/>
        </p:spPr>
        <p:txBody>
          <a:bodyPr wrap="square" lIns="0" tIns="0" rIns="0" bIns="0" rtlCol="0" anchor="t"/>
          <a:lstStyle/>
          <a:p>
            <a:pPr indent="0" marL="0">
              <a:buNone/>
            </a:pPr>
            <a:r>
              <a:rPr lang="en-US" sz="1400" b="1" dirty="0">
                <a:solidFill>
                  <a:schemeClr val="accent2"/>
                </a:solidFill>
              </a:rPr>
              <a:t>Coaches Scrum and clears blockers</a:t>
            </a:r>
            <a:endParaRPr lang="en-US" sz="1400" dirty="0"/>
          </a:p>
        </p:txBody>
      </p:sp>
      <p:sp>
        <p:nvSpPr>
          <p:cNvPr id="15" name="Text 11"/>
          <p:cNvSpPr txBox="1"/>
          <p:nvPr/>
        </p:nvSpPr>
        <p:spPr>
          <a:xfrm>
            <a:off x="3474720" y="2377440"/>
            <a:ext cx="2194560" cy="777240"/>
          </a:xfrm>
          <a:prstGeom prst="rect">
            <a:avLst/>
          </a:prstGeom>
          <a:noFill/>
          <a:ln/>
        </p:spPr>
        <p:txBody>
          <a:bodyPr wrap="square" lIns="0" tIns="0" rIns="0" bIns="0" rtlCol="0" anchor="t"/>
          <a:lstStyle/>
          <a:p>
            <a:pPr indent="0" marL="0">
              <a:buNone/>
            </a:pPr>
            <a:r>
              <a:rPr lang="en-US" sz="1000" b="1" dirty="0">
                <a:solidFill>
                  <a:schemeClr val="accent5"/>
                </a:solidFill>
              </a:rPr>
              <a:t>WHY IT MATTERS</a:t>
            </a:r>
            <a:endParaRPr lang="en-US" sz="1000" dirty="0"/>
          </a:p>
          <a:p>
            <a:pPr indent="0" marL="0">
              <a:buNone/>
            </a:pPr>
            <a:r>
              <a:rPr lang="en-US" sz="1400" dirty="0">
                <a:solidFill>
                  <a:schemeClr val="tx1"/>
                </a:solidFill>
              </a:rPr>
              <a:t>Protects focus and keeps the Scrum events working.</a:t>
            </a:r>
            <a:endParaRPr lang="en-US" sz="1000" dirty="0"/>
          </a:p>
        </p:txBody>
      </p:sp>
      <p:sp>
        <p:nvSpPr>
          <p:cNvPr id="16" name="Text 12"/>
          <p:cNvSpPr txBox="1"/>
          <p:nvPr/>
        </p:nvSpPr>
        <p:spPr>
          <a:xfrm>
            <a:off x="3474720" y="3200400"/>
            <a:ext cx="2194560" cy="868680"/>
          </a:xfrm>
          <a:prstGeom prst="rect">
            <a:avLst/>
          </a:prstGeom>
          <a:noFill/>
          <a:ln/>
        </p:spPr>
        <p:txBody>
          <a:bodyPr wrap="square" lIns="0" tIns="0" rIns="0" bIns="0" rtlCol="0" anchor="t"/>
          <a:lstStyle/>
          <a:p>
            <a:pPr indent="0" marL="0">
              <a:buNone/>
            </a:pPr>
            <a:r>
              <a:rPr lang="en-US" sz="1000" b="1" dirty="0">
                <a:solidFill>
                  <a:schemeClr val="accent5"/>
                </a:solidFill>
              </a:rPr>
              <a:t>SNHU TRAVEL</a:t>
            </a:r>
            <a:endParaRPr lang="en-US" sz="1000" dirty="0"/>
          </a:p>
          <a:p>
            <a:pPr indent="0" marL="0">
              <a:buNone/>
            </a:pPr>
            <a:r>
              <a:rPr lang="en-US" sz="1400" dirty="0">
                <a:solidFill>
                  <a:schemeClr val="tx1"/>
                </a:solidFill>
              </a:rPr>
              <a:t>I set the 15-minute Daily Scrum, a blocker rule, and the Definition of Done.</a:t>
            </a:r>
            <a:endParaRPr lang="en-US" sz="1000" dirty="0"/>
          </a:p>
        </p:txBody>
      </p:sp>
      <p:sp>
        <p:nvSpPr>
          <p:cNvPr id="17" name="Role card Developers"/>
          <p:cNvSpPr/>
          <p:nvPr/>
        </p:nvSpPr>
        <p:spPr>
          <a:xfrm>
            <a:off x="6126480" y="1097280"/>
            <a:ext cx="2560320" cy="3017520"/>
          </a:xfrm>
          <a:prstGeom prst="roundRect">
            <a:avLst>
              <a:gd name="adj" fmla="val 4286"/>
            </a:avLst>
          </a:prstGeom>
          <a:solidFill>
            <a:schemeClr val="bg2"/>
          </a:solidFill>
          <a:ln/>
          <a:effectLst>
            <a:outerShdw sx="100000" sy="100000" kx="0" ky="0" algn="bl" rotWithShape="0" blurRad="76200" dist="25400" dir="5400000">
              <a:srgbClr val="000000">
                <a:alpha val="12000"/>
              </a:srgbClr>
            </a:outerShdw>
          </a:effectLst>
        </p:spPr>
      </p:sp>
      <p:sp>
        <p:nvSpPr>
          <p:cNvPr id="18" name="Icon circle"/>
          <p:cNvSpPr/>
          <p:nvPr/>
        </p:nvSpPr>
        <p:spPr>
          <a:xfrm>
            <a:off x="6309360" y="1234440"/>
            <a:ext cx="548640" cy="548640"/>
          </a:xfrm>
          <a:prstGeom prst="ellipse">
            <a:avLst/>
          </a:prstGeom>
          <a:solidFill>
            <a:schemeClr val="accent1"/>
          </a:solidFill>
          <a:ln/>
        </p:spPr>
      </p:sp>
      <p:pic>
        <p:nvPicPr>
          <p:cNvPr id="19" name="Image 2" descr="Developers icon">    </p:cNvPr>
          <p:cNvPicPr>
            <a:picLocks noChangeAspect="1"/>
          </p:cNvPicPr>
          <p:nvPr/>
        </p:nvPicPr>
        <p:blipFill>
          <a:blip r:embed="rId3"/>
          <a:stretch>
            <a:fillRect/>
          </a:stretch>
        </p:blipFill>
        <p:spPr>
          <a:xfrm>
            <a:off x="6437376" y="1362456"/>
            <a:ext cx="292608" cy="292608"/>
          </a:xfrm>
          <a:prstGeom prst="rect">
            <a:avLst/>
          </a:prstGeom>
        </p:spPr>
      </p:pic>
      <p:sp>
        <p:nvSpPr>
          <p:cNvPr id="20" name="Text 15"/>
          <p:cNvSpPr txBox="1"/>
          <p:nvPr/>
        </p:nvSpPr>
        <p:spPr>
          <a:xfrm>
            <a:off x="6995160" y="1234440"/>
            <a:ext cx="1600200" cy="548640"/>
          </a:xfrm>
          <a:prstGeom prst="rect">
            <a:avLst/>
          </a:prstGeom>
          <a:noFill/>
          <a:ln/>
        </p:spPr>
        <p:txBody>
          <a:bodyPr wrap="square" lIns="0" tIns="0" rIns="0" bIns="0" rtlCol="0" anchor="ctr"/>
          <a:lstStyle/>
          <a:p>
            <a:pPr indent="0" marL="0">
              <a:buNone/>
            </a:pPr>
            <a:r>
              <a:rPr lang="en-US" sz="1800" b="1" dirty="0">
                <a:solidFill>
                  <a:schemeClr val="tx1"/>
                </a:solidFill>
              </a:rPr>
              <a:t>Developers</a:t>
            </a:r>
            <a:endParaRPr lang="en-US" sz="1800" dirty="0"/>
          </a:p>
        </p:txBody>
      </p:sp>
      <p:sp>
        <p:nvSpPr>
          <p:cNvPr id="21" name="Text 16"/>
          <p:cNvSpPr txBox="1"/>
          <p:nvPr/>
        </p:nvSpPr>
        <p:spPr>
          <a:xfrm>
            <a:off x="6309360" y="1874520"/>
            <a:ext cx="2194560" cy="457200"/>
          </a:xfrm>
          <a:prstGeom prst="rect">
            <a:avLst/>
          </a:prstGeom>
          <a:noFill/>
          <a:ln/>
        </p:spPr>
        <p:txBody>
          <a:bodyPr wrap="square" lIns="0" tIns="0" rIns="0" bIns="0" rtlCol="0" anchor="t"/>
          <a:lstStyle/>
          <a:p>
            <a:pPr indent="0" marL="0">
              <a:buNone/>
            </a:pPr>
            <a:r>
              <a:rPr lang="en-US" sz="1400" b="1" dirty="0">
                <a:solidFill>
                  <a:schemeClr val="accent2"/>
                </a:solidFill>
              </a:rPr>
              <a:t>Build and test the increment (Developer and Tester)</a:t>
            </a:r>
            <a:endParaRPr lang="en-US" sz="1400" dirty="0"/>
          </a:p>
        </p:txBody>
      </p:sp>
      <p:sp>
        <p:nvSpPr>
          <p:cNvPr id="22" name="Text 17"/>
          <p:cNvSpPr txBox="1"/>
          <p:nvPr/>
        </p:nvSpPr>
        <p:spPr>
          <a:xfrm>
            <a:off x="6309360" y="2377440"/>
            <a:ext cx="2194560" cy="777240"/>
          </a:xfrm>
          <a:prstGeom prst="rect">
            <a:avLst/>
          </a:prstGeom>
          <a:noFill/>
          <a:ln/>
        </p:spPr>
        <p:txBody>
          <a:bodyPr wrap="square" lIns="0" tIns="0" rIns="0" bIns="0" rtlCol="0" anchor="t"/>
          <a:lstStyle/>
          <a:p>
            <a:pPr indent="0" marL="0">
              <a:buNone/>
            </a:pPr>
            <a:r>
              <a:rPr lang="en-US" sz="1000" b="1" dirty="0">
                <a:solidFill>
                  <a:schemeClr val="accent5"/>
                </a:solidFill>
              </a:rPr>
              <a:t>WHY IT MATTERS</a:t>
            </a:r>
            <a:endParaRPr lang="en-US" sz="1000" dirty="0"/>
          </a:p>
          <a:p>
            <a:pPr indent="0" marL="0">
              <a:buNone/>
            </a:pPr>
            <a:r>
              <a:rPr lang="en-US" sz="1400" dirty="0">
                <a:solidFill>
                  <a:schemeClr val="tx1"/>
                </a:solidFill>
              </a:rPr>
              <a:t>Turn ordered stories into working, Done software.</a:t>
            </a:r>
            <a:endParaRPr lang="en-US" sz="1000" dirty="0"/>
          </a:p>
        </p:txBody>
      </p:sp>
      <p:sp>
        <p:nvSpPr>
          <p:cNvPr id="23" name="Text 18"/>
          <p:cNvSpPr txBox="1"/>
          <p:nvPr/>
        </p:nvSpPr>
        <p:spPr>
          <a:xfrm>
            <a:off x="6309360" y="3200400"/>
            <a:ext cx="2194560" cy="868680"/>
          </a:xfrm>
          <a:prstGeom prst="rect">
            <a:avLst/>
          </a:prstGeom>
          <a:noFill/>
          <a:ln/>
        </p:spPr>
        <p:txBody>
          <a:bodyPr wrap="square" lIns="0" tIns="0" rIns="0" bIns="0" rtlCol="0" anchor="t"/>
          <a:lstStyle/>
          <a:p>
            <a:pPr indent="0" marL="0">
              <a:buNone/>
            </a:pPr>
            <a:r>
              <a:rPr lang="en-US" sz="1000" b="1" dirty="0">
                <a:solidFill>
                  <a:schemeClr val="accent5"/>
                </a:solidFill>
              </a:rPr>
              <a:t>SNHU TRAVEL</a:t>
            </a:r>
            <a:endParaRPr lang="en-US" sz="1000" dirty="0"/>
          </a:p>
          <a:p>
            <a:pPr indent="0" marL="0">
              <a:buNone/>
            </a:pPr>
            <a:r>
              <a:rPr lang="en-US" sz="1400" dirty="0">
                <a:solidFill>
                  <a:schemeClr val="tx1"/>
                </a:solidFill>
              </a:rPr>
              <a:t>Nicole built the Top Five list and Slide Show; Brian tested them and found story gaps.</a:t>
            </a:r>
            <a:endParaRPr lang="en-US" sz="1000" dirty="0"/>
          </a:p>
        </p:txBody>
      </p:sp>
      <p:sp>
        <p:nvSpPr>
          <p:cNvPr id="24" name="Text 19"/>
          <p:cNvSpPr txBox="1"/>
          <p:nvPr/>
        </p:nvSpPr>
        <p:spPr>
          <a:xfrm>
            <a:off x="457200" y="4279392"/>
            <a:ext cx="8229600" cy="411480"/>
          </a:xfrm>
          <a:prstGeom prst="rect">
            <a:avLst/>
          </a:prstGeom>
          <a:noFill/>
          <a:ln/>
        </p:spPr>
        <p:txBody>
          <a:bodyPr wrap="square" lIns="0" tIns="0" rIns="0" bIns="0" rtlCol="0" anchor="t"/>
          <a:lstStyle/>
          <a:p>
            <a:pPr indent="0" marL="0">
              <a:buNone/>
            </a:pPr>
            <a:r>
              <a:rPr lang="en-US" sz="1200" dirty="0">
                <a:solidFill>
                  <a:schemeClr val="tx1"/>
                </a:solidFill>
              </a:rPr>
              <a:t>Together they form a cross-functional, self-managing team that splits traditional project-manager duties across roles (Schwaber &amp; Sutherland, 2020; Sassa et al., 2023).</a:t>
            </a:r>
            <a:endParaRPr lang="en-US" sz="1200" dirty="0"/>
          </a:p>
        </p:txBody>
      </p:sp>
      <p:sp>
        <p:nvSpPr>
          <p:cNvPr id="25" name="Slide Number Placeholder 0"/>
          <p:cNvSpPr>
            <a:spLocks noGrp="1"/>
          </p:cNvSpPr>
          <p:nvPr>
            <p:ph type="sldNum" sz="quarter" idx="4294967295"/>
          </p:nvPr>
        </p:nvSpPr>
        <p:spPr>
          <a:xfrm>
            <a:off x="8321040" y="473659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latin typeface="Calibri" pitchFamily="34" charset="0"/>
                <a:ea typeface="Calibri" pitchFamily="34" charset="-122"/>
                <a:cs typeface="Calibri" pitchFamily="34" charset="-120"/>
              </a:rPr>
              <a:t>Each sprint runs the full SDLC</a:t>
            </a:r>
            <a:endParaRPr lang="en-US" sz="3000" dirty="0"/>
          </a:p>
        </p:txBody>
      </p:sp>
      <p:sp>
        <p:nvSpPr>
          <p:cNvPr id="3" name="Phase card Requirements"/>
          <p:cNvSpPr/>
          <p:nvPr/>
        </p:nvSpPr>
        <p:spPr>
          <a:xfrm>
            <a:off x="457200" y="1097280"/>
            <a:ext cx="2560320" cy="1481328"/>
          </a:xfrm>
          <a:prstGeom prst="roundRect">
            <a:avLst>
              <a:gd name="adj" fmla="val 7407"/>
            </a:avLst>
          </a:prstGeom>
          <a:solidFill>
            <a:schemeClr val="bg2"/>
          </a:solidFill>
          <a:ln/>
        </p:spPr>
      </p:sp>
      <p:sp>
        <p:nvSpPr>
          <p:cNvPr id="4" name="Phase number"/>
          <p:cNvSpPr/>
          <p:nvPr/>
        </p:nvSpPr>
        <p:spPr>
          <a:xfrm>
            <a:off x="621792" y="1225296"/>
            <a:ext cx="384048" cy="384048"/>
          </a:xfrm>
          <a:prstGeom prst="ellipse">
            <a:avLst/>
          </a:prstGeom>
          <a:solidFill>
            <a:schemeClr val="accent1"/>
          </a:solidFill>
          <a:ln/>
        </p:spPr>
      </p:sp>
      <p:sp>
        <p:nvSpPr>
          <p:cNvPr id="5" name="Text 3"/>
          <p:cNvSpPr txBox="1"/>
          <p:nvPr/>
        </p:nvSpPr>
        <p:spPr>
          <a:xfrm>
            <a:off x="621792" y="1225296"/>
            <a:ext cx="384048" cy="384048"/>
          </a:xfrm>
          <a:prstGeom prst="rect">
            <a:avLst/>
          </a:prstGeom>
          <a:noFill/>
          <a:ln/>
        </p:spPr>
        <p:txBody>
          <a:bodyPr wrap="square" lIns="0" tIns="0" rIns="0" bIns="0" rtlCol="0" anchor="ctr"/>
          <a:lstStyle/>
          <a:p>
            <a:pPr algn="ctr" indent="0" marL="0">
              <a:buNone/>
            </a:pPr>
            <a:r>
              <a:rPr lang="en-US" sz="1400" b="1" dirty="0">
                <a:solidFill>
                  <a:schemeClr val="tx1"/>
                </a:solidFill>
              </a:rPr>
              <a:t>1</a:t>
            </a:r>
            <a:endParaRPr lang="en-US" sz="1400" dirty="0"/>
          </a:p>
        </p:txBody>
      </p:sp>
      <p:sp>
        <p:nvSpPr>
          <p:cNvPr id="6" name="Text 4"/>
          <p:cNvSpPr txBox="1"/>
          <p:nvPr/>
        </p:nvSpPr>
        <p:spPr>
          <a:xfrm>
            <a:off x="1115568" y="1225296"/>
            <a:ext cx="1737360" cy="384048"/>
          </a:xfrm>
          <a:prstGeom prst="rect">
            <a:avLst/>
          </a:prstGeom>
          <a:noFill/>
          <a:ln/>
        </p:spPr>
        <p:txBody>
          <a:bodyPr wrap="square" lIns="0" tIns="0" rIns="0" bIns="0" rtlCol="0" anchor="ctr"/>
          <a:lstStyle/>
          <a:p>
            <a:pPr indent="0" marL="0">
              <a:buNone/>
            </a:pPr>
            <a:r>
              <a:rPr lang="en-US" sz="1800" b="1" dirty="0">
                <a:solidFill>
                  <a:schemeClr val="tx1"/>
                </a:solidFill>
              </a:rPr>
              <a:t>Requirements</a:t>
            </a:r>
            <a:endParaRPr lang="en-US" sz="1800" dirty="0"/>
          </a:p>
        </p:txBody>
      </p:sp>
      <p:sp>
        <p:nvSpPr>
          <p:cNvPr id="7" name="Text 5"/>
          <p:cNvSpPr txBox="1"/>
          <p:nvPr/>
        </p:nvSpPr>
        <p:spPr>
          <a:xfrm>
            <a:off x="621792" y="1664208"/>
            <a:ext cx="2240280" cy="868680"/>
          </a:xfrm>
          <a:prstGeom prst="rect">
            <a:avLst/>
          </a:prstGeom>
          <a:noFill/>
          <a:ln/>
        </p:spPr>
        <p:txBody>
          <a:bodyPr wrap="square" lIns="0" tIns="0" rIns="0" bIns="0" rtlCol="0" anchor="t"/>
          <a:lstStyle/>
          <a:p>
            <a:pPr indent="0" marL="0">
              <a:buNone/>
            </a:pPr>
            <a:r>
              <a:rPr lang="en-US" sz="1400" dirty="0">
                <a:solidFill>
                  <a:schemeClr val="tx1"/>
                </a:solidFill>
              </a:rPr>
              <a:t>Backlog refinement and Sprint Planning turn top stories into a Sprint Goal before work starts.</a:t>
            </a:r>
            <a:endParaRPr lang="en-US" sz="1400" dirty="0"/>
          </a:p>
        </p:txBody>
      </p:sp>
      <p:sp>
        <p:nvSpPr>
          <p:cNvPr id="8" name="Phase card Design"/>
          <p:cNvSpPr/>
          <p:nvPr/>
        </p:nvSpPr>
        <p:spPr>
          <a:xfrm>
            <a:off x="3291840" y="1097280"/>
            <a:ext cx="2560320" cy="1481328"/>
          </a:xfrm>
          <a:prstGeom prst="roundRect">
            <a:avLst>
              <a:gd name="adj" fmla="val 7407"/>
            </a:avLst>
          </a:prstGeom>
          <a:solidFill>
            <a:schemeClr val="bg2"/>
          </a:solidFill>
          <a:ln/>
        </p:spPr>
      </p:sp>
      <p:sp>
        <p:nvSpPr>
          <p:cNvPr id="9" name="Phase number"/>
          <p:cNvSpPr/>
          <p:nvPr/>
        </p:nvSpPr>
        <p:spPr>
          <a:xfrm>
            <a:off x="3456432" y="1225296"/>
            <a:ext cx="384048" cy="384048"/>
          </a:xfrm>
          <a:prstGeom prst="ellipse">
            <a:avLst/>
          </a:prstGeom>
          <a:solidFill>
            <a:schemeClr val="accent1"/>
          </a:solidFill>
          <a:ln/>
        </p:spPr>
      </p:sp>
      <p:sp>
        <p:nvSpPr>
          <p:cNvPr id="10" name="Text 8"/>
          <p:cNvSpPr txBox="1"/>
          <p:nvPr/>
        </p:nvSpPr>
        <p:spPr>
          <a:xfrm>
            <a:off x="3456432" y="1225296"/>
            <a:ext cx="384048" cy="384048"/>
          </a:xfrm>
          <a:prstGeom prst="rect">
            <a:avLst/>
          </a:prstGeom>
          <a:noFill/>
          <a:ln/>
        </p:spPr>
        <p:txBody>
          <a:bodyPr wrap="square" lIns="0" tIns="0" rIns="0" bIns="0" rtlCol="0" anchor="ctr"/>
          <a:lstStyle/>
          <a:p>
            <a:pPr algn="ctr" indent="0" marL="0">
              <a:buNone/>
            </a:pPr>
            <a:r>
              <a:rPr lang="en-US" sz="1400" b="1" dirty="0">
                <a:solidFill>
                  <a:schemeClr val="tx1"/>
                </a:solidFill>
              </a:rPr>
              <a:t>2</a:t>
            </a:r>
            <a:endParaRPr lang="en-US" sz="1400" dirty="0"/>
          </a:p>
        </p:txBody>
      </p:sp>
      <p:sp>
        <p:nvSpPr>
          <p:cNvPr id="11" name="Text 9"/>
          <p:cNvSpPr txBox="1"/>
          <p:nvPr/>
        </p:nvSpPr>
        <p:spPr>
          <a:xfrm>
            <a:off x="3950208" y="1225296"/>
            <a:ext cx="1737360" cy="384048"/>
          </a:xfrm>
          <a:prstGeom prst="rect">
            <a:avLst/>
          </a:prstGeom>
          <a:noFill/>
          <a:ln/>
        </p:spPr>
        <p:txBody>
          <a:bodyPr wrap="square" lIns="0" tIns="0" rIns="0" bIns="0" rtlCol="0" anchor="ctr"/>
          <a:lstStyle/>
          <a:p>
            <a:pPr indent="0" marL="0">
              <a:buNone/>
            </a:pPr>
            <a:r>
              <a:rPr lang="en-US" sz="1800" b="1" dirty="0">
                <a:solidFill>
                  <a:schemeClr val="tx1"/>
                </a:solidFill>
              </a:rPr>
              <a:t>Design</a:t>
            </a:r>
            <a:endParaRPr lang="en-US" sz="1800" dirty="0"/>
          </a:p>
        </p:txBody>
      </p:sp>
      <p:sp>
        <p:nvSpPr>
          <p:cNvPr id="12" name="Text 10"/>
          <p:cNvSpPr txBox="1"/>
          <p:nvPr/>
        </p:nvSpPr>
        <p:spPr>
          <a:xfrm>
            <a:off x="3456432" y="1664208"/>
            <a:ext cx="2240280" cy="868680"/>
          </a:xfrm>
          <a:prstGeom prst="rect">
            <a:avLst/>
          </a:prstGeom>
          <a:noFill/>
          <a:ln/>
        </p:spPr>
        <p:txBody>
          <a:bodyPr wrap="square" lIns="0" tIns="0" rIns="0" bIns="0" rtlCol="0" anchor="t"/>
          <a:lstStyle/>
          <a:p>
            <a:pPr indent="0" marL="0">
              <a:buNone/>
            </a:pPr>
            <a:r>
              <a:rPr lang="en-US" sz="1400" dirty="0">
                <a:solidFill>
                  <a:schemeClr val="tx1"/>
                </a:solidFill>
              </a:rPr>
              <a:t>Just-enough design per story, refined with the team, so designs never go stale.</a:t>
            </a:r>
            <a:endParaRPr lang="en-US" sz="1400" dirty="0"/>
          </a:p>
        </p:txBody>
      </p:sp>
      <p:sp>
        <p:nvSpPr>
          <p:cNvPr id="13" name="Phase card Build"/>
          <p:cNvSpPr/>
          <p:nvPr/>
        </p:nvSpPr>
        <p:spPr>
          <a:xfrm>
            <a:off x="6126480" y="1097280"/>
            <a:ext cx="2560320" cy="1481328"/>
          </a:xfrm>
          <a:prstGeom prst="roundRect">
            <a:avLst>
              <a:gd name="adj" fmla="val 7407"/>
            </a:avLst>
          </a:prstGeom>
          <a:solidFill>
            <a:schemeClr val="bg2"/>
          </a:solidFill>
          <a:ln/>
        </p:spPr>
      </p:sp>
      <p:sp>
        <p:nvSpPr>
          <p:cNvPr id="14" name="Phase number"/>
          <p:cNvSpPr/>
          <p:nvPr/>
        </p:nvSpPr>
        <p:spPr>
          <a:xfrm>
            <a:off x="6291072" y="1225296"/>
            <a:ext cx="384048" cy="384048"/>
          </a:xfrm>
          <a:prstGeom prst="ellipse">
            <a:avLst/>
          </a:prstGeom>
          <a:solidFill>
            <a:schemeClr val="accent1"/>
          </a:solidFill>
          <a:ln/>
        </p:spPr>
      </p:sp>
      <p:sp>
        <p:nvSpPr>
          <p:cNvPr id="15" name="Text 13"/>
          <p:cNvSpPr txBox="1"/>
          <p:nvPr/>
        </p:nvSpPr>
        <p:spPr>
          <a:xfrm>
            <a:off x="6291072" y="1225296"/>
            <a:ext cx="384048" cy="384048"/>
          </a:xfrm>
          <a:prstGeom prst="rect">
            <a:avLst/>
          </a:prstGeom>
          <a:noFill/>
          <a:ln/>
        </p:spPr>
        <p:txBody>
          <a:bodyPr wrap="square" lIns="0" tIns="0" rIns="0" bIns="0" rtlCol="0" anchor="ctr"/>
          <a:lstStyle/>
          <a:p>
            <a:pPr algn="ctr" indent="0" marL="0">
              <a:buNone/>
            </a:pPr>
            <a:r>
              <a:rPr lang="en-US" sz="1400" b="1" dirty="0">
                <a:solidFill>
                  <a:schemeClr val="tx1"/>
                </a:solidFill>
              </a:rPr>
              <a:t>3</a:t>
            </a:r>
            <a:endParaRPr lang="en-US" sz="1400" dirty="0"/>
          </a:p>
        </p:txBody>
      </p:sp>
      <p:sp>
        <p:nvSpPr>
          <p:cNvPr id="16" name="Text 14"/>
          <p:cNvSpPr txBox="1"/>
          <p:nvPr/>
        </p:nvSpPr>
        <p:spPr>
          <a:xfrm>
            <a:off x="6784848" y="1225296"/>
            <a:ext cx="1737360" cy="384048"/>
          </a:xfrm>
          <a:prstGeom prst="rect">
            <a:avLst/>
          </a:prstGeom>
          <a:noFill/>
          <a:ln/>
        </p:spPr>
        <p:txBody>
          <a:bodyPr wrap="square" lIns="0" tIns="0" rIns="0" bIns="0" rtlCol="0" anchor="ctr"/>
          <a:lstStyle/>
          <a:p>
            <a:pPr indent="0" marL="0">
              <a:buNone/>
            </a:pPr>
            <a:r>
              <a:rPr lang="en-US" sz="1800" b="1" dirty="0">
                <a:solidFill>
                  <a:schemeClr val="tx1"/>
                </a:solidFill>
              </a:rPr>
              <a:t>Build</a:t>
            </a:r>
            <a:endParaRPr lang="en-US" sz="1800" dirty="0"/>
          </a:p>
        </p:txBody>
      </p:sp>
      <p:sp>
        <p:nvSpPr>
          <p:cNvPr id="17" name="Text 15"/>
          <p:cNvSpPr txBox="1"/>
          <p:nvPr/>
        </p:nvSpPr>
        <p:spPr>
          <a:xfrm>
            <a:off x="6291072" y="1664208"/>
            <a:ext cx="2240280" cy="868680"/>
          </a:xfrm>
          <a:prstGeom prst="rect">
            <a:avLst/>
          </a:prstGeom>
          <a:noFill/>
          <a:ln/>
        </p:spPr>
        <p:txBody>
          <a:bodyPr wrap="square" lIns="0" tIns="0" rIns="0" bIns="0" rtlCol="0" anchor="t"/>
          <a:lstStyle/>
          <a:p>
            <a:pPr indent="0" marL="0">
              <a:buNone/>
            </a:pPr>
            <a:r>
              <a:rPr lang="en-US" sz="1400" dirty="0">
                <a:solidFill>
                  <a:schemeClr val="tx1"/>
                </a:solidFill>
              </a:rPr>
              <a:t>Small increments, synced by the Daily Scrum, surface blockers within a day.</a:t>
            </a:r>
            <a:endParaRPr lang="en-US" sz="1400" dirty="0"/>
          </a:p>
        </p:txBody>
      </p:sp>
      <p:sp>
        <p:nvSpPr>
          <p:cNvPr id="18" name="Phase card Test"/>
          <p:cNvSpPr/>
          <p:nvPr/>
        </p:nvSpPr>
        <p:spPr>
          <a:xfrm>
            <a:off x="457200" y="2724912"/>
            <a:ext cx="2560320" cy="1481328"/>
          </a:xfrm>
          <a:prstGeom prst="roundRect">
            <a:avLst>
              <a:gd name="adj" fmla="val 7407"/>
            </a:avLst>
          </a:prstGeom>
          <a:solidFill>
            <a:schemeClr val="bg2"/>
          </a:solidFill>
          <a:ln/>
        </p:spPr>
      </p:sp>
      <p:sp>
        <p:nvSpPr>
          <p:cNvPr id="19" name="Phase number"/>
          <p:cNvSpPr/>
          <p:nvPr/>
        </p:nvSpPr>
        <p:spPr>
          <a:xfrm>
            <a:off x="621792" y="2852928"/>
            <a:ext cx="384048" cy="384048"/>
          </a:xfrm>
          <a:prstGeom prst="ellipse">
            <a:avLst/>
          </a:prstGeom>
          <a:solidFill>
            <a:schemeClr val="accent1"/>
          </a:solidFill>
          <a:ln/>
        </p:spPr>
      </p:sp>
      <p:sp>
        <p:nvSpPr>
          <p:cNvPr id="20" name="Text 18"/>
          <p:cNvSpPr txBox="1"/>
          <p:nvPr/>
        </p:nvSpPr>
        <p:spPr>
          <a:xfrm>
            <a:off x="621792" y="2852928"/>
            <a:ext cx="384048" cy="384048"/>
          </a:xfrm>
          <a:prstGeom prst="rect">
            <a:avLst/>
          </a:prstGeom>
          <a:noFill/>
          <a:ln/>
        </p:spPr>
        <p:txBody>
          <a:bodyPr wrap="square" lIns="0" tIns="0" rIns="0" bIns="0" rtlCol="0" anchor="ctr"/>
          <a:lstStyle/>
          <a:p>
            <a:pPr algn="ctr" indent="0" marL="0">
              <a:buNone/>
            </a:pPr>
            <a:r>
              <a:rPr lang="en-US" sz="1400" b="1" dirty="0">
                <a:solidFill>
                  <a:schemeClr val="tx1"/>
                </a:solidFill>
              </a:rPr>
              <a:t>4</a:t>
            </a:r>
            <a:endParaRPr lang="en-US" sz="1400" dirty="0"/>
          </a:p>
        </p:txBody>
      </p:sp>
      <p:sp>
        <p:nvSpPr>
          <p:cNvPr id="21" name="Text 19"/>
          <p:cNvSpPr txBox="1"/>
          <p:nvPr/>
        </p:nvSpPr>
        <p:spPr>
          <a:xfrm>
            <a:off x="1115568" y="2852928"/>
            <a:ext cx="1737360" cy="384048"/>
          </a:xfrm>
          <a:prstGeom prst="rect">
            <a:avLst/>
          </a:prstGeom>
          <a:noFill/>
          <a:ln/>
        </p:spPr>
        <p:txBody>
          <a:bodyPr wrap="square" lIns="0" tIns="0" rIns="0" bIns="0" rtlCol="0" anchor="ctr"/>
          <a:lstStyle/>
          <a:p>
            <a:pPr indent="0" marL="0">
              <a:buNone/>
            </a:pPr>
            <a:r>
              <a:rPr lang="en-US" sz="1800" b="1" dirty="0">
                <a:solidFill>
                  <a:schemeClr val="tx1"/>
                </a:solidFill>
              </a:rPr>
              <a:t>Test</a:t>
            </a:r>
            <a:endParaRPr lang="en-US" sz="1800" dirty="0"/>
          </a:p>
        </p:txBody>
      </p:sp>
      <p:sp>
        <p:nvSpPr>
          <p:cNvPr id="22" name="Text 20"/>
          <p:cNvSpPr txBox="1"/>
          <p:nvPr/>
        </p:nvSpPr>
        <p:spPr>
          <a:xfrm>
            <a:off x="621792" y="3291840"/>
            <a:ext cx="2240280" cy="868680"/>
          </a:xfrm>
          <a:prstGeom prst="rect">
            <a:avLst/>
          </a:prstGeom>
          <a:noFill/>
          <a:ln/>
        </p:spPr>
        <p:txBody>
          <a:bodyPr wrap="square" lIns="0" tIns="0" rIns="0" bIns="0" rtlCol="0" anchor="t"/>
          <a:lstStyle/>
          <a:p>
            <a:pPr indent="0" marL="0">
              <a:buNone/>
            </a:pPr>
            <a:r>
              <a:rPr lang="en-US" sz="1400" dirty="0">
                <a:solidFill>
                  <a:schemeClr val="tx1"/>
                </a:solidFill>
              </a:rPr>
              <a:t>Testing runs inside the sprint, so Done means working, not just code complete.</a:t>
            </a:r>
            <a:endParaRPr lang="en-US" sz="1400" dirty="0"/>
          </a:p>
        </p:txBody>
      </p:sp>
      <p:sp>
        <p:nvSpPr>
          <p:cNvPr id="23" name="Phase card Deploy"/>
          <p:cNvSpPr/>
          <p:nvPr/>
        </p:nvSpPr>
        <p:spPr>
          <a:xfrm>
            <a:off x="3291840" y="2724912"/>
            <a:ext cx="2560320" cy="1481328"/>
          </a:xfrm>
          <a:prstGeom prst="roundRect">
            <a:avLst>
              <a:gd name="adj" fmla="val 7407"/>
            </a:avLst>
          </a:prstGeom>
          <a:solidFill>
            <a:schemeClr val="bg2"/>
          </a:solidFill>
          <a:ln/>
        </p:spPr>
      </p:sp>
      <p:sp>
        <p:nvSpPr>
          <p:cNvPr id="24" name="Phase number"/>
          <p:cNvSpPr/>
          <p:nvPr/>
        </p:nvSpPr>
        <p:spPr>
          <a:xfrm>
            <a:off x="3456432" y="2852928"/>
            <a:ext cx="384048" cy="384048"/>
          </a:xfrm>
          <a:prstGeom prst="ellipse">
            <a:avLst/>
          </a:prstGeom>
          <a:solidFill>
            <a:schemeClr val="accent1"/>
          </a:solidFill>
          <a:ln/>
        </p:spPr>
      </p:sp>
      <p:sp>
        <p:nvSpPr>
          <p:cNvPr id="25" name="Text 23"/>
          <p:cNvSpPr txBox="1"/>
          <p:nvPr/>
        </p:nvSpPr>
        <p:spPr>
          <a:xfrm>
            <a:off x="3456432" y="2852928"/>
            <a:ext cx="384048" cy="384048"/>
          </a:xfrm>
          <a:prstGeom prst="rect">
            <a:avLst/>
          </a:prstGeom>
          <a:noFill/>
          <a:ln/>
        </p:spPr>
        <p:txBody>
          <a:bodyPr wrap="square" lIns="0" tIns="0" rIns="0" bIns="0" rtlCol="0" anchor="ctr"/>
          <a:lstStyle/>
          <a:p>
            <a:pPr algn="ctr" indent="0" marL="0">
              <a:buNone/>
            </a:pPr>
            <a:r>
              <a:rPr lang="en-US" sz="1400" b="1" dirty="0">
                <a:solidFill>
                  <a:schemeClr val="tx1"/>
                </a:solidFill>
              </a:rPr>
              <a:t>5</a:t>
            </a:r>
            <a:endParaRPr lang="en-US" sz="1400" dirty="0"/>
          </a:p>
        </p:txBody>
      </p:sp>
      <p:sp>
        <p:nvSpPr>
          <p:cNvPr id="26" name="Text 24"/>
          <p:cNvSpPr txBox="1"/>
          <p:nvPr/>
        </p:nvSpPr>
        <p:spPr>
          <a:xfrm>
            <a:off x="3950208" y="2852928"/>
            <a:ext cx="1737360" cy="384048"/>
          </a:xfrm>
          <a:prstGeom prst="rect">
            <a:avLst/>
          </a:prstGeom>
          <a:noFill/>
          <a:ln/>
        </p:spPr>
        <p:txBody>
          <a:bodyPr wrap="square" lIns="0" tIns="0" rIns="0" bIns="0" rtlCol="0" anchor="ctr"/>
          <a:lstStyle/>
          <a:p>
            <a:pPr indent="0" marL="0">
              <a:buNone/>
            </a:pPr>
            <a:r>
              <a:rPr lang="en-US" sz="1800" b="1" dirty="0">
                <a:solidFill>
                  <a:schemeClr val="tx1"/>
                </a:solidFill>
              </a:rPr>
              <a:t>Deploy</a:t>
            </a:r>
            <a:endParaRPr lang="en-US" sz="1800" dirty="0"/>
          </a:p>
        </p:txBody>
      </p:sp>
      <p:sp>
        <p:nvSpPr>
          <p:cNvPr id="27" name="Text 25"/>
          <p:cNvSpPr txBox="1"/>
          <p:nvPr/>
        </p:nvSpPr>
        <p:spPr>
          <a:xfrm>
            <a:off x="3456432" y="3291840"/>
            <a:ext cx="2240280" cy="868680"/>
          </a:xfrm>
          <a:prstGeom prst="rect">
            <a:avLst/>
          </a:prstGeom>
          <a:noFill/>
          <a:ln/>
        </p:spPr>
        <p:txBody>
          <a:bodyPr wrap="square" lIns="0" tIns="0" rIns="0" bIns="0" rtlCol="0" anchor="t"/>
          <a:lstStyle/>
          <a:p>
            <a:pPr indent="0" marL="0">
              <a:buNone/>
            </a:pPr>
            <a:r>
              <a:rPr lang="en-US" sz="1400" dirty="0">
                <a:solidFill>
                  <a:schemeClr val="tx1"/>
                </a:solidFill>
              </a:rPr>
              <a:t>Each Increment meets the Definition of Done and can be released, so value ships early.</a:t>
            </a:r>
            <a:endParaRPr lang="en-US" sz="1400" dirty="0"/>
          </a:p>
        </p:txBody>
      </p:sp>
      <p:sp>
        <p:nvSpPr>
          <p:cNvPr id="28" name="Phase card Maintain"/>
          <p:cNvSpPr/>
          <p:nvPr/>
        </p:nvSpPr>
        <p:spPr>
          <a:xfrm>
            <a:off x="6126480" y="2724912"/>
            <a:ext cx="2560320" cy="1481328"/>
          </a:xfrm>
          <a:prstGeom prst="roundRect">
            <a:avLst>
              <a:gd name="adj" fmla="val 7407"/>
            </a:avLst>
          </a:prstGeom>
          <a:solidFill>
            <a:schemeClr val="bg2"/>
          </a:solidFill>
          <a:ln/>
        </p:spPr>
      </p:sp>
      <p:sp>
        <p:nvSpPr>
          <p:cNvPr id="29" name="Phase number"/>
          <p:cNvSpPr/>
          <p:nvPr/>
        </p:nvSpPr>
        <p:spPr>
          <a:xfrm>
            <a:off x="6291072" y="2852928"/>
            <a:ext cx="384048" cy="384048"/>
          </a:xfrm>
          <a:prstGeom prst="ellipse">
            <a:avLst/>
          </a:prstGeom>
          <a:solidFill>
            <a:schemeClr val="accent1"/>
          </a:solidFill>
          <a:ln/>
        </p:spPr>
      </p:sp>
      <p:sp>
        <p:nvSpPr>
          <p:cNvPr id="30" name="Text 28"/>
          <p:cNvSpPr txBox="1"/>
          <p:nvPr/>
        </p:nvSpPr>
        <p:spPr>
          <a:xfrm>
            <a:off x="6291072" y="2852928"/>
            <a:ext cx="384048" cy="384048"/>
          </a:xfrm>
          <a:prstGeom prst="rect">
            <a:avLst/>
          </a:prstGeom>
          <a:noFill/>
          <a:ln/>
        </p:spPr>
        <p:txBody>
          <a:bodyPr wrap="square" lIns="0" tIns="0" rIns="0" bIns="0" rtlCol="0" anchor="ctr"/>
          <a:lstStyle/>
          <a:p>
            <a:pPr algn="ctr" indent="0" marL="0">
              <a:buNone/>
            </a:pPr>
            <a:r>
              <a:rPr lang="en-US" sz="1400" b="1" dirty="0">
                <a:solidFill>
                  <a:schemeClr val="tx1"/>
                </a:solidFill>
              </a:rPr>
              <a:t>6</a:t>
            </a:r>
            <a:endParaRPr lang="en-US" sz="1400" dirty="0"/>
          </a:p>
        </p:txBody>
      </p:sp>
      <p:sp>
        <p:nvSpPr>
          <p:cNvPr id="31" name="Text 29"/>
          <p:cNvSpPr txBox="1"/>
          <p:nvPr/>
        </p:nvSpPr>
        <p:spPr>
          <a:xfrm>
            <a:off x="6784848" y="2852928"/>
            <a:ext cx="1737360" cy="384048"/>
          </a:xfrm>
          <a:prstGeom prst="rect">
            <a:avLst/>
          </a:prstGeom>
          <a:noFill/>
          <a:ln/>
        </p:spPr>
        <p:txBody>
          <a:bodyPr wrap="square" lIns="0" tIns="0" rIns="0" bIns="0" rtlCol="0" anchor="ctr"/>
          <a:lstStyle/>
          <a:p>
            <a:pPr indent="0" marL="0">
              <a:buNone/>
            </a:pPr>
            <a:r>
              <a:rPr lang="en-US" sz="1800" b="1" dirty="0">
                <a:solidFill>
                  <a:schemeClr val="tx1"/>
                </a:solidFill>
              </a:rPr>
              <a:t>Maintain</a:t>
            </a:r>
            <a:endParaRPr lang="en-US" sz="1800" dirty="0"/>
          </a:p>
        </p:txBody>
      </p:sp>
      <p:sp>
        <p:nvSpPr>
          <p:cNvPr id="32" name="Text 30"/>
          <p:cNvSpPr txBox="1"/>
          <p:nvPr/>
        </p:nvSpPr>
        <p:spPr>
          <a:xfrm>
            <a:off x="6291072" y="3291840"/>
            <a:ext cx="2240280" cy="868680"/>
          </a:xfrm>
          <a:prstGeom prst="rect">
            <a:avLst/>
          </a:prstGeom>
          <a:noFill/>
          <a:ln/>
        </p:spPr>
        <p:txBody>
          <a:bodyPr wrap="square" lIns="0" tIns="0" rIns="0" bIns="0" rtlCol="0" anchor="t"/>
          <a:lstStyle/>
          <a:p>
            <a:pPr indent="0" marL="0">
              <a:buNone/>
            </a:pPr>
            <a:r>
              <a:rPr lang="en-US" sz="1400" dirty="0">
                <a:solidFill>
                  <a:schemeClr val="tx1"/>
                </a:solidFill>
              </a:rPr>
              <a:t>The Sprint Review and Retrospective feed feedback and fixes into the next sprint.</a:t>
            </a:r>
            <a:endParaRPr lang="en-US" sz="1400" dirty="0"/>
          </a:p>
        </p:txBody>
      </p:sp>
      <p:sp>
        <p:nvSpPr>
          <p:cNvPr id="33" name="Source note"/>
          <p:cNvSpPr txBox="1"/>
          <p:nvPr/>
        </p:nvSpPr>
        <p:spPr>
          <a:xfrm>
            <a:off x="457200" y="4407408"/>
            <a:ext cx="8229600" cy="256032"/>
          </a:xfrm>
          <a:prstGeom prst="rect">
            <a:avLst/>
          </a:prstGeom>
          <a:noFill/>
          <a:ln/>
        </p:spPr>
        <p:txBody>
          <a:bodyPr wrap="square" lIns="0" tIns="0" rIns="0" bIns="0" rtlCol="0" anchor="ctr"/>
          <a:lstStyle/>
          <a:p>
            <a:pPr indent="0" marL="0">
              <a:buNone/>
            </a:pPr>
            <a:r>
              <a:rPr lang="en-US" sz="1000" dirty="0">
                <a:solidFill>
                  <a:schemeClr val="accent5"/>
                </a:solidFill>
              </a:rPr>
              <a:t>SDLC phases mapped to the Scrum events (Schwaber &amp; Sutherland, 2020); iterative, test-driven versus plan-driven methods (Thesing et al., 2021).</a:t>
            </a:r>
            <a:endParaRPr lang="en-US" sz="1000" dirty="0"/>
          </a:p>
        </p:txBody>
      </p:sp>
      <p:sp>
        <p:nvSpPr>
          <p:cNvPr id="25" name="Slide Number Placeholder 0"/>
          <p:cNvSpPr>
            <a:spLocks noGrp="1"/>
          </p:cNvSpPr>
          <p:nvPr>
            <p:ph type="sldNum" sz="quarter" idx="4294967295"/>
          </p:nvPr>
        </p:nvSpPr>
        <p:spPr>
          <a:xfrm>
            <a:off x="8321040" y="473659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latin typeface="Calibri" pitchFamily="34" charset="0"/>
                <a:ea typeface="Calibri" pitchFamily="34" charset="-122"/>
                <a:cs typeface="Calibri" pitchFamily="34" charset="-120"/>
              </a:rPr>
              <a:t>Waterfall vs. Agile: the wellness pivot</a:t>
            </a:r>
            <a:endParaRPr lang="en-US" sz="3000" dirty="0"/>
          </a:p>
        </p:txBody>
      </p:sp>
      <p:sp>
        <p:nvSpPr>
          <p:cNvPr id="3" name="Text 1"/>
          <p:cNvSpPr txBox="1"/>
          <p:nvPr/>
        </p:nvSpPr>
        <p:spPr>
          <a:xfrm>
            <a:off x="457200" y="1051560"/>
            <a:ext cx="8229600" cy="228600"/>
          </a:xfrm>
          <a:prstGeom prst="rect">
            <a:avLst/>
          </a:prstGeom>
          <a:noFill/>
          <a:ln/>
        </p:spPr>
        <p:txBody>
          <a:bodyPr wrap="square" lIns="0" tIns="0" rIns="0" bIns="0" rtlCol="0" anchor="ctr"/>
          <a:lstStyle/>
          <a:p>
            <a:pPr indent="0" marL="0">
              <a:buNone/>
            </a:pPr>
            <a:r>
              <a:rPr lang="en-US" sz="1200" b="1" dirty="0">
                <a:solidFill>
                  <a:schemeClr val="accent5"/>
                </a:solidFill>
              </a:rPr>
              <a:t>WATERFALL (what would have happened)</a:t>
            </a:r>
            <a:endParaRPr lang="en-US" sz="1200" dirty="0"/>
          </a:p>
        </p:txBody>
      </p:sp>
      <p:sp>
        <p:nvSpPr>
          <p:cNvPr id="4" name="Waterfall phase Requirements"/>
          <p:cNvSpPr/>
          <p:nvPr/>
        </p:nvSpPr>
        <p:spPr>
          <a:xfrm>
            <a:off x="457200" y="1325880"/>
            <a:ext cx="1645920" cy="502920"/>
          </a:xfrm>
          <a:prstGeom prst="chevron">
            <a:avLst/>
          </a:prstGeom>
          <a:solidFill>
            <a:schemeClr val="accent5"/>
          </a:solidFill>
          <a:ln/>
        </p:spPr>
      </p:sp>
      <p:sp>
        <p:nvSpPr>
          <p:cNvPr id="5" name="Text 3"/>
          <p:cNvSpPr txBox="1"/>
          <p:nvPr/>
        </p:nvSpPr>
        <p:spPr>
          <a:xfrm>
            <a:off x="685800" y="1325880"/>
            <a:ext cx="1188720" cy="502920"/>
          </a:xfrm>
          <a:prstGeom prst="rect">
            <a:avLst/>
          </a:prstGeom>
          <a:noFill/>
          <a:ln/>
        </p:spPr>
        <p:txBody>
          <a:bodyPr wrap="square" lIns="0" tIns="0" rIns="0" bIns="0" rtlCol="0" anchor="ctr"/>
          <a:lstStyle/>
          <a:p>
            <a:pPr algn="ctr" indent="0" marL="0">
              <a:buNone/>
            </a:pPr>
            <a:r>
              <a:rPr lang="en-US" sz="1200" b="1" dirty="0">
                <a:solidFill>
                  <a:schemeClr val="bg1"/>
                </a:solidFill>
              </a:rPr>
              <a:t>Requirements</a:t>
            </a:r>
            <a:endParaRPr lang="en-US" sz="1200" dirty="0"/>
          </a:p>
        </p:txBody>
      </p:sp>
      <p:sp>
        <p:nvSpPr>
          <p:cNvPr id="6" name="Waterfall phase Design"/>
          <p:cNvSpPr/>
          <p:nvPr/>
        </p:nvSpPr>
        <p:spPr>
          <a:xfrm>
            <a:off x="2103120" y="1325880"/>
            <a:ext cx="1645920" cy="502920"/>
          </a:xfrm>
          <a:prstGeom prst="chevron">
            <a:avLst/>
          </a:prstGeom>
          <a:solidFill>
            <a:schemeClr val="accent5"/>
          </a:solidFill>
          <a:ln/>
        </p:spPr>
      </p:sp>
      <p:sp>
        <p:nvSpPr>
          <p:cNvPr id="7" name="Text 5"/>
          <p:cNvSpPr txBox="1"/>
          <p:nvPr/>
        </p:nvSpPr>
        <p:spPr>
          <a:xfrm>
            <a:off x="2331720" y="1325880"/>
            <a:ext cx="1188720" cy="502920"/>
          </a:xfrm>
          <a:prstGeom prst="rect">
            <a:avLst/>
          </a:prstGeom>
          <a:noFill/>
          <a:ln/>
        </p:spPr>
        <p:txBody>
          <a:bodyPr wrap="square" lIns="0" tIns="0" rIns="0" bIns="0" rtlCol="0" anchor="ctr"/>
          <a:lstStyle/>
          <a:p>
            <a:pPr algn="ctr" indent="0" marL="0">
              <a:buNone/>
            </a:pPr>
            <a:r>
              <a:rPr lang="en-US" sz="1200" b="1" dirty="0">
                <a:solidFill>
                  <a:schemeClr val="bg1"/>
                </a:solidFill>
              </a:rPr>
              <a:t>Design</a:t>
            </a:r>
            <a:endParaRPr lang="en-US" sz="1200" dirty="0"/>
          </a:p>
        </p:txBody>
      </p:sp>
      <p:sp>
        <p:nvSpPr>
          <p:cNvPr id="8" name="Waterfall phase Build"/>
          <p:cNvSpPr/>
          <p:nvPr/>
        </p:nvSpPr>
        <p:spPr>
          <a:xfrm>
            <a:off x="3749040" y="1325880"/>
            <a:ext cx="1645920" cy="502920"/>
          </a:xfrm>
          <a:prstGeom prst="chevron">
            <a:avLst/>
          </a:prstGeom>
          <a:solidFill>
            <a:schemeClr val="accent3"/>
          </a:solidFill>
          <a:ln/>
        </p:spPr>
      </p:sp>
      <p:sp>
        <p:nvSpPr>
          <p:cNvPr id="9" name="Text 7"/>
          <p:cNvSpPr txBox="1"/>
          <p:nvPr/>
        </p:nvSpPr>
        <p:spPr>
          <a:xfrm>
            <a:off x="3977640" y="1325880"/>
            <a:ext cx="1188720" cy="502920"/>
          </a:xfrm>
          <a:prstGeom prst="rect">
            <a:avLst/>
          </a:prstGeom>
          <a:noFill/>
          <a:ln/>
        </p:spPr>
        <p:txBody>
          <a:bodyPr wrap="square" lIns="0" tIns="0" rIns="0" bIns="0" rtlCol="0" anchor="ctr"/>
          <a:lstStyle/>
          <a:p>
            <a:pPr algn="ctr" indent="0" marL="0">
              <a:buNone/>
            </a:pPr>
            <a:r>
              <a:rPr lang="en-US" sz="1200" b="1" dirty="0">
                <a:solidFill>
                  <a:schemeClr val="tx1"/>
                </a:solidFill>
              </a:rPr>
              <a:t>Build</a:t>
            </a:r>
            <a:endParaRPr lang="en-US" sz="1200" dirty="0"/>
          </a:p>
        </p:txBody>
      </p:sp>
      <p:sp>
        <p:nvSpPr>
          <p:cNvPr id="10" name="Waterfall phase Test"/>
          <p:cNvSpPr/>
          <p:nvPr/>
        </p:nvSpPr>
        <p:spPr>
          <a:xfrm>
            <a:off x="5394960" y="1325880"/>
            <a:ext cx="1645920" cy="502920"/>
          </a:xfrm>
          <a:prstGeom prst="chevron">
            <a:avLst/>
          </a:prstGeom>
          <a:solidFill>
            <a:schemeClr val="accent5"/>
          </a:solidFill>
          <a:ln/>
        </p:spPr>
      </p:sp>
      <p:sp>
        <p:nvSpPr>
          <p:cNvPr id="11" name="Text 9"/>
          <p:cNvSpPr txBox="1"/>
          <p:nvPr/>
        </p:nvSpPr>
        <p:spPr>
          <a:xfrm>
            <a:off x="5623560" y="1325880"/>
            <a:ext cx="1188720" cy="502920"/>
          </a:xfrm>
          <a:prstGeom prst="rect">
            <a:avLst/>
          </a:prstGeom>
          <a:noFill/>
          <a:ln/>
        </p:spPr>
        <p:txBody>
          <a:bodyPr wrap="square" lIns="0" tIns="0" rIns="0" bIns="0" rtlCol="0" anchor="ctr"/>
          <a:lstStyle/>
          <a:p>
            <a:pPr algn="ctr" indent="0" marL="0">
              <a:buNone/>
            </a:pPr>
            <a:r>
              <a:rPr lang="en-US" sz="1200" b="1" dirty="0">
                <a:solidFill>
                  <a:schemeClr val="bg1"/>
                </a:solidFill>
              </a:rPr>
              <a:t>Test</a:t>
            </a:r>
            <a:endParaRPr lang="en-US" sz="1200" dirty="0"/>
          </a:p>
        </p:txBody>
      </p:sp>
      <p:sp>
        <p:nvSpPr>
          <p:cNvPr id="12" name="Waterfall phase Deploy"/>
          <p:cNvSpPr/>
          <p:nvPr/>
        </p:nvSpPr>
        <p:spPr>
          <a:xfrm>
            <a:off x="7040880" y="1325880"/>
            <a:ext cx="1645920" cy="502920"/>
          </a:xfrm>
          <a:prstGeom prst="chevron">
            <a:avLst/>
          </a:prstGeom>
          <a:solidFill>
            <a:schemeClr val="accent5"/>
          </a:solidFill>
          <a:ln/>
        </p:spPr>
      </p:sp>
      <p:sp>
        <p:nvSpPr>
          <p:cNvPr id="13" name="Text 11"/>
          <p:cNvSpPr txBox="1"/>
          <p:nvPr/>
        </p:nvSpPr>
        <p:spPr>
          <a:xfrm>
            <a:off x="7269480" y="1325880"/>
            <a:ext cx="1188720" cy="502920"/>
          </a:xfrm>
          <a:prstGeom prst="rect">
            <a:avLst/>
          </a:prstGeom>
          <a:noFill/>
          <a:ln/>
        </p:spPr>
        <p:txBody>
          <a:bodyPr wrap="square" lIns="0" tIns="0" rIns="0" bIns="0" rtlCol="0" anchor="ctr"/>
          <a:lstStyle/>
          <a:p>
            <a:pPr algn="ctr" indent="0" marL="0">
              <a:buNone/>
            </a:pPr>
            <a:r>
              <a:rPr lang="en-US" sz="1200" b="1" dirty="0">
                <a:solidFill>
                  <a:schemeClr val="bg1"/>
                </a:solidFill>
              </a:rPr>
              <a:t>Deploy</a:t>
            </a:r>
            <a:endParaRPr lang="en-US" sz="1200" dirty="0"/>
          </a:p>
        </p:txBody>
      </p:sp>
      <p:sp>
        <p:nvSpPr>
          <p:cNvPr id="14" name="Waterfall callout"/>
          <p:cNvSpPr/>
          <p:nvPr/>
        </p:nvSpPr>
        <p:spPr>
          <a:xfrm>
            <a:off x="457200" y="1920240"/>
            <a:ext cx="8229600" cy="685800"/>
          </a:xfrm>
          <a:prstGeom prst="roundRect">
            <a:avLst>
              <a:gd name="adj" fmla="val 13333"/>
            </a:avLst>
          </a:prstGeom>
          <a:solidFill>
            <a:schemeClr val="bg2"/>
          </a:solidFill>
          <a:ln/>
        </p:spPr>
      </p:sp>
      <p:sp>
        <p:nvSpPr>
          <p:cNvPr id="15" name="Text 13"/>
          <p:cNvSpPr txBox="1"/>
          <p:nvPr/>
        </p:nvSpPr>
        <p:spPr>
          <a:xfrm>
            <a:off x="640080" y="1920240"/>
            <a:ext cx="7863840" cy="685800"/>
          </a:xfrm>
          <a:prstGeom prst="rect">
            <a:avLst/>
          </a:prstGeom>
          <a:noFill/>
          <a:ln/>
        </p:spPr>
        <p:txBody>
          <a:bodyPr wrap="square" lIns="0" tIns="0" rIns="0" bIns="0" rtlCol="0" anchor="ctr"/>
          <a:lstStyle/>
          <a:p>
            <a:pPr indent="0" marL="0">
              <a:buNone/>
            </a:pPr>
            <a:r>
              <a:rPr lang="en-US" sz="1400" b="1" dirty="0">
                <a:solidFill>
                  <a:schemeClr val="tx1"/>
                </a:solidFill>
              </a:rPr>
              <a:t>Pivot arrives during Build. </a:t>
            </a:r>
            <a:pPr indent="0" marL="0">
              <a:buNone/>
            </a:pPr>
            <a:r>
              <a:rPr lang="en-US" sz="1400" dirty="0">
                <a:solidFill>
                  <a:schemeClr val="tx1"/>
                </a:solidFill>
              </a:rPr>
              <a:t>A change request reopens approved requirements and design, and a bug like our missing JAR picture would surface only in Test.</a:t>
            </a:r>
            <a:endParaRPr lang="en-US" sz="1400" dirty="0"/>
          </a:p>
        </p:txBody>
      </p:sp>
      <p:sp>
        <p:nvSpPr>
          <p:cNvPr id="16" name="Text 14"/>
          <p:cNvSpPr txBox="1"/>
          <p:nvPr/>
        </p:nvSpPr>
        <p:spPr>
          <a:xfrm>
            <a:off x="457200" y="2788920"/>
            <a:ext cx="8229600" cy="228600"/>
          </a:xfrm>
          <a:prstGeom prst="rect">
            <a:avLst/>
          </a:prstGeom>
          <a:noFill/>
          <a:ln/>
        </p:spPr>
        <p:txBody>
          <a:bodyPr wrap="square" lIns="0" tIns="0" rIns="0" bIns="0" rtlCol="0" anchor="ctr"/>
          <a:lstStyle/>
          <a:p>
            <a:pPr indent="0" marL="0">
              <a:buNone/>
            </a:pPr>
            <a:r>
              <a:rPr lang="en-US" sz="1200" b="1" dirty="0">
                <a:solidFill>
                  <a:schemeClr val="accent2"/>
                </a:solidFill>
              </a:rPr>
              <a:t>SCRUM-AGILE (what we did)</a:t>
            </a:r>
            <a:endParaRPr lang="en-US" sz="1200" dirty="0"/>
          </a:p>
        </p:txBody>
      </p:sp>
      <p:sp>
        <p:nvSpPr>
          <p:cNvPr id="17" name="Sprint 1"/>
          <p:cNvSpPr/>
          <p:nvPr/>
        </p:nvSpPr>
        <p:spPr>
          <a:xfrm>
            <a:off x="457200" y="3063240"/>
            <a:ext cx="2743200" cy="502920"/>
          </a:xfrm>
          <a:prstGeom prst="chevron">
            <a:avLst/>
          </a:prstGeom>
          <a:solidFill>
            <a:schemeClr val="accent1"/>
          </a:solidFill>
          <a:ln/>
        </p:spPr>
      </p:sp>
      <p:sp>
        <p:nvSpPr>
          <p:cNvPr id="18" name="Text 16"/>
          <p:cNvSpPr txBox="1"/>
          <p:nvPr/>
        </p:nvSpPr>
        <p:spPr>
          <a:xfrm>
            <a:off x="731520" y="3063240"/>
            <a:ext cx="2194560" cy="502920"/>
          </a:xfrm>
          <a:prstGeom prst="rect">
            <a:avLst/>
          </a:prstGeom>
          <a:noFill/>
          <a:ln/>
        </p:spPr>
        <p:txBody>
          <a:bodyPr wrap="square" lIns="0" tIns="0" rIns="0" bIns="0" rtlCol="0" anchor="ctr"/>
          <a:lstStyle/>
          <a:p>
            <a:pPr algn="ctr" indent="0" marL="0">
              <a:buNone/>
            </a:pPr>
            <a:r>
              <a:rPr lang="en-US" sz="1200" b="1" dirty="0">
                <a:solidFill>
                  <a:schemeClr val="tx1"/>
                </a:solidFill>
              </a:rPr>
              <a:t>Focus group and stories</a:t>
            </a:r>
            <a:endParaRPr lang="en-US" sz="1200" dirty="0"/>
          </a:p>
        </p:txBody>
      </p:sp>
      <p:sp>
        <p:nvSpPr>
          <p:cNvPr id="19" name="Sprint 2"/>
          <p:cNvSpPr/>
          <p:nvPr/>
        </p:nvSpPr>
        <p:spPr>
          <a:xfrm>
            <a:off x="3200400" y="3063240"/>
            <a:ext cx="2743200" cy="502920"/>
          </a:xfrm>
          <a:prstGeom prst="chevron">
            <a:avLst/>
          </a:prstGeom>
          <a:solidFill>
            <a:schemeClr val="accent1"/>
          </a:solidFill>
          <a:ln/>
        </p:spPr>
      </p:sp>
      <p:sp>
        <p:nvSpPr>
          <p:cNvPr id="20" name="Text 18"/>
          <p:cNvSpPr txBox="1"/>
          <p:nvPr/>
        </p:nvSpPr>
        <p:spPr>
          <a:xfrm>
            <a:off x="3474720" y="3063240"/>
            <a:ext cx="2194560" cy="502920"/>
          </a:xfrm>
          <a:prstGeom prst="rect">
            <a:avLst/>
          </a:prstGeom>
          <a:noFill/>
          <a:ln/>
        </p:spPr>
        <p:txBody>
          <a:bodyPr wrap="square" lIns="0" tIns="0" rIns="0" bIns="0" rtlCol="0" anchor="ctr"/>
          <a:lstStyle/>
          <a:p>
            <a:pPr algn="ctr" indent="0" marL="0">
              <a:buNone/>
            </a:pPr>
            <a:r>
              <a:rPr lang="en-US" sz="1200" b="1" dirty="0">
                <a:solidFill>
                  <a:schemeClr val="tx1"/>
                </a:solidFill>
              </a:rPr>
              <a:t>Top Five list and Slide Show</a:t>
            </a:r>
            <a:endParaRPr lang="en-US" sz="1200" dirty="0"/>
          </a:p>
        </p:txBody>
      </p:sp>
      <p:sp>
        <p:nvSpPr>
          <p:cNvPr id="21" name="Sprint 3"/>
          <p:cNvSpPr/>
          <p:nvPr/>
        </p:nvSpPr>
        <p:spPr>
          <a:xfrm>
            <a:off x="5943600" y="3063240"/>
            <a:ext cx="2743200" cy="502920"/>
          </a:xfrm>
          <a:prstGeom prst="chevron">
            <a:avLst/>
          </a:prstGeom>
          <a:solidFill>
            <a:schemeClr val="accent3"/>
          </a:solidFill>
          <a:ln/>
        </p:spPr>
      </p:sp>
      <p:sp>
        <p:nvSpPr>
          <p:cNvPr id="22" name="Text 20"/>
          <p:cNvSpPr txBox="1"/>
          <p:nvPr/>
        </p:nvSpPr>
        <p:spPr>
          <a:xfrm>
            <a:off x="6217920" y="3063240"/>
            <a:ext cx="2194560" cy="502920"/>
          </a:xfrm>
          <a:prstGeom prst="rect">
            <a:avLst/>
          </a:prstGeom>
          <a:noFill/>
          <a:ln/>
        </p:spPr>
        <p:txBody>
          <a:bodyPr wrap="square" lIns="0" tIns="0" rIns="0" bIns="0" rtlCol="0" anchor="ctr"/>
          <a:lstStyle/>
          <a:p>
            <a:pPr algn="ctr" indent="0" marL="0">
              <a:buNone/>
            </a:pPr>
            <a:r>
              <a:rPr lang="en-US" sz="1200" b="1" dirty="0">
                <a:solidFill>
                  <a:schemeClr val="tx1"/>
                </a:solidFill>
              </a:rPr>
              <a:t>Wellness pivot</a:t>
            </a:r>
            <a:endParaRPr lang="en-US" sz="1200" dirty="0"/>
          </a:p>
        </p:txBody>
      </p:sp>
      <p:sp>
        <p:nvSpPr>
          <p:cNvPr id="23" name="Agile callout"/>
          <p:cNvSpPr/>
          <p:nvPr/>
        </p:nvSpPr>
        <p:spPr>
          <a:xfrm>
            <a:off x="457200" y="3657600"/>
            <a:ext cx="8229600" cy="685800"/>
          </a:xfrm>
          <a:prstGeom prst="roundRect">
            <a:avLst>
              <a:gd name="adj" fmla="val 13333"/>
            </a:avLst>
          </a:prstGeom>
          <a:solidFill>
            <a:schemeClr val="bg2"/>
          </a:solidFill>
          <a:ln/>
        </p:spPr>
      </p:sp>
      <p:sp>
        <p:nvSpPr>
          <p:cNvPr id="24" name="Text 22"/>
          <p:cNvSpPr txBox="1"/>
          <p:nvPr/>
        </p:nvSpPr>
        <p:spPr>
          <a:xfrm>
            <a:off x="640080" y="3657600"/>
            <a:ext cx="7863840" cy="685800"/>
          </a:xfrm>
          <a:prstGeom prst="rect">
            <a:avLst/>
          </a:prstGeom>
          <a:noFill/>
          <a:ln/>
        </p:spPr>
        <p:txBody>
          <a:bodyPr wrap="square" lIns="0" tIns="0" rIns="0" bIns="0" rtlCol="0" anchor="ctr"/>
          <a:lstStyle/>
          <a:p>
            <a:pPr indent="0" marL="0">
              <a:buNone/>
            </a:pPr>
            <a:r>
              <a:rPr lang="en-US" sz="1400" b="1" dirty="0">
                <a:solidFill>
                  <a:schemeClr val="tx1"/>
                </a:solidFill>
              </a:rPr>
              <a:t>Pivot handled by reordering the backlog. </a:t>
            </a:r>
            <a:pPr indent="0" marL="0">
              <a:buNone/>
            </a:pPr>
            <a:r>
              <a:rPr lang="en-US" sz="1400" dirty="0">
                <a:solidFill>
                  <a:schemeClr val="tx1"/>
                </a:solidFill>
              </a:rPr>
              <a:t>Christy kept the dates, and Nicole changed only the title, five pictures, and five captions.</a:t>
            </a:r>
            <a:endParaRPr lang="en-US" sz="1400" dirty="0"/>
          </a:p>
        </p:txBody>
      </p:sp>
      <p:sp>
        <p:nvSpPr>
          <p:cNvPr id="25" name="Source note"/>
          <p:cNvSpPr txBox="1"/>
          <p:nvPr/>
        </p:nvSpPr>
        <p:spPr>
          <a:xfrm>
            <a:off x="457200" y="4434840"/>
            <a:ext cx="8229600" cy="256032"/>
          </a:xfrm>
          <a:prstGeom prst="rect">
            <a:avLst/>
          </a:prstGeom>
          <a:noFill/>
          <a:ln/>
        </p:spPr>
        <p:txBody>
          <a:bodyPr wrap="square" lIns="0" tIns="0" rIns="0" bIns="0" rtlCol="0" anchor="ctr"/>
          <a:lstStyle/>
          <a:p>
            <a:pPr indent="0" marL="0">
              <a:buNone/>
            </a:pPr>
            <a:r>
              <a:rPr lang="en-US" sz="1000" dirty="0">
                <a:solidFill>
                  <a:schemeClr val="accent5"/>
                </a:solidFill>
              </a:rPr>
              <a:t>From our SNHU Travel work (Modules 3 to 6); waterfall as a plan-driven method (Thesing et al., 2021).</a:t>
            </a:r>
            <a:endParaRPr lang="en-US" sz="1000" dirty="0"/>
          </a:p>
        </p:txBody>
      </p:sp>
      <p:sp>
        <p:nvSpPr>
          <p:cNvPr id="25" name="Slide Number Placeholder 0"/>
          <p:cNvSpPr>
            <a:spLocks noGrp="1"/>
          </p:cNvSpPr>
          <p:nvPr>
            <p:ph type="sldNum" sz="quarter" idx="4294967295"/>
          </p:nvPr>
        </p:nvSpPr>
        <p:spPr>
          <a:xfrm>
            <a:off x="8321040" y="473659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latin typeface="Calibri" pitchFamily="34" charset="0"/>
                <a:ea typeface="Calibri" pitchFamily="34" charset="-122"/>
                <a:cs typeface="Calibri" pitchFamily="34" charset="-120"/>
              </a:rPr>
              <a:t>Choosing a method: five factors</a:t>
            </a:r>
            <a:endParaRPr lang="en-US" sz="3000" dirty="0"/>
          </a:p>
        </p:txBody>
      </p:sp>
      <p:graphicFrame>
        <p:nvGraphicFramePr>
          <p:cNvPr id="7" name="Method selection table"/>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1280160"/>
                <a:gridCol w="2377440"/>
                <a:gridCol w="2377440"/>
                <a:gridCol w="2194560"/>
              </a:tblGrid>
              <a:tr h="329184">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Factor</a:t>
                      </a:r>
                      <a:endParaRPr lang="en-US" sz="1200" dirty="0">
                        <a:latin typeface="Calibri" charset="0"/>
                        <a:ea typeface="Calibri" charset="0"/>
                        <a:cs typeface="Calibri" charset="0"/>
                      </a:endParaRPr>
                    </a:p>
                  </a:txBody>
                  <a:tcPr marL="73152" marR="73152" marT="36576" marB="36576"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Waterfall fits when…</a:t>
                      </a:r>
                      <a:endParaRPr lang="en-US" sz="1200" dirty="0">
                        <a:latin typeface="Calibri" charset="0"/>
                        <a:ea typeface="Calibri" charset="0"/>
                        <a:cs typeface="Calibri" charset="0"/>
                      </a:endParaRPr>
                    </a:p>
                  </a:txBody>
                  <a:tcPr marL="73152" marR="73152" marT="36576" marB="36576"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Agile fits when…</a:t>
                      </a:r>
                      <a:endParaRPr lang="en-US" sz="1200" dirty="0">
                        <a:latin typeface="Calibri" charset="0"/>
                        <a:ea typeface="Calibri" charset="0"/>
                        <a:cs typeface="Calibri" charset="0"/>
                      </a:endParaRPr>
                    </a:p>
                  </a:txBody>
                  <a:tcPr marL="73152" marR="73152" marT="36576" marB="36576"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SNHU Travel</a:t>
                      </a:r>
                      <a:endParaRPr lang="en-US" sz="1200" dirty="0">
                        <a:latin typeface="Calibri" charset="0"/>
                        <a:ea typeface="Calibri" charset="0"/>
                        <a:cs typeface="Calibri" charset="0"/>
                      </a:endParaRPr>
                    </a:p>
                  </a:txBody>
                  <a:tcPr marL="73152" marR="73152" marT="36576" marB="36576"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tx1"/>
                    </a:solidFill>
                  </a:tcPr>
                </a:tc>
              </a:tr>
              <a:tr h="585216">
                <a:tc>
                  <a:txBody>
                    <a:bodyPr/>
                    <a:lstStyle/>
                    <a:p>
                      <a:pPr indent="0" marL="0">
                        <a:buNone/>
                      </a:pPr>
                      <a:r>
                        <a:rPr lang="en-US" sz="1200" b="1" dirty="0">
                          <a:solidFill>
                            <a:schemeClr val="accent2"/>
                          </a:solidFill>
                          <a:latin typeface="Calibri" pitchFamily="34" charset="0"/>
                          <a:ea typeface="Calibri" pitchFamily="34" charset="-122"/>
                          <a:cs typeface="Calibri" pitchFamily="34" charset="-120"/>
                        </a:rPr>
                        <a:t>Scope</a:t>
                      </a:r>
                      <a:endParaRPr lang="en-US" sz="1200" dirty="0">
                        <a:latin typeface="Calibri" charset="0"/>
                        <a:ea typeface="Calibri" charset="0"/>
                        <a:cs typeface="Calibri" charset="0"/>
                      </a:endParaRPr>
                    </a:p>
                  </a:txBody>
                  <a:tcPr marL="73152" marR="73152" marT="36576" marB="36576"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Requirements are fixed and well specified</a:t>
                      </a:r>
                      <a:endParaRPr lang="en-US" sz="1200" dirty="0">
                        <a:latin typeface="Calibri" charset="0"/>
                        <a:ea typeface="Calibri" charset="0"/>
                        <a:cs typeface="Calibri" charset="0"/>
                      </a:endParaRPr>
                    </a:p>
                  </a:txBody>
                  <a:tcPr marL="73152" marR="73152" marT="36576" marB="36576"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Requirements will evolve with feedback</a:t>
                      </a:r>
                      <a:endParaRPr lang="en-US" sz="1200" dirty="0">
                        <a:latin typeface="Calibri" charset="0"/>
                        <a:ea typeface="Calibri" charset="0"/>
                        <a:cs typeface="Calibri" charset="0"/>
                      </a:endParaRPr>
                    </a:p>
                  </a:txBody>
                  <a:tcPr marL="73152" marR="73152" marT="36576" marB="36576"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Three customers’ stories, then a wellness pivot</a:t>
                      </a:r>
                      <a:endParaRPr lang="en-US" sz="1200" dirty="0">
                        <a:latin typeface="Calibri" charset="0"/>
                        <a:ea typeface="Calibri" charset="0"/>
                        <a:cs typeface="Calibri" charset="0"/>
                      </a:endParaRPr>
                    </a:p>
                  </a:txBody>
                  <a:tcPr marL="73152" marR="73152" marT="36576" marB="36576"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2"/>
                    </a:solidFill>
                  </a:tcPr>
                </a:tc>
              </a:tr>
              <a:tr h="585216">
                <a:tc>
                  <a:txBody>
                    <a:bodyPr/>
                    <a:lstStyle/>
                    <a:p>
                      <a:pPr indent="0" marL="0">
                        <a:buNone/>
                      </a:pPr>
                      <a:r>
                        <a:rPr lang="en-US" sz="1200" b="1" dirty="0">
                          <a:solidFill>
                            <a:schemeClr val="accent2"/>
                          </a:solidFill>
                          <a:latin typeface="Calibri" pitchFamily="34" charset="0"/>
                          <a:ea typeface="Calibri" pitchFamily="34" charset="-122"/>
                          <a:cs typeface="Calibri" pitchFamily="34" charset="-120"/>
                        </a:rPr>
                        <a:t>Time</a:t>
                      </a:r>
                      <a:endParaRPr lang="en-US" sz="1200" dirty="0">
                        <a:latin typeface="Calibri" charset="0"/>
                        <a:ea typeface="Calibri" charset="0"/>
                        <a:cs typeface="Calibri" charset="0"/>
                      </a:endParaRPr>
                    </a:p>
                  </a:txBody>
                  <a:tcPr marL="73152" marR="73152" marT="36576" marB="36576"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Deadline and phase gates are set in advance</a:t>
                      </a:r>
                      <a:endParaRPr lang="en-US" sz="1200" dirty="0">
                        <a:latin typeface="Calibri" charset="0"/>
                        <a:ea typeface="Calibri" charset="0"/>
                        <a:cs typeface="Calibri" charset="0"/>
                      </a:endParaRPr>
                    </a:p>
                  </a:txBody>
                  <a:tcPr marL="73152" marR="73152" marT="36576" marB="36576"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Value ships in increments and scope can flex</a:t>
                      </a:r>
                      <a:endParaRPr lang="en-US" sz="1200" dirty="0">
                        <a:latin typeface="Calibri" charset="0"/>
                        <a:ea typeface="Calibri" charset="0"/>
                        <a:cs typeface="Calibri" charset="0"/>
                      </a:endParaRPr>
                    </a:p>
                  </a:txBody>
                  <a:tcPr marL="73152" marR="73152" marT="36576" marB="36576"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Dates held by reordering the backlog</a:t>
                      </a:r>
                      <a:endParaRPr lang="en-US" sz="1200" dirty="0">
                        <a:latin typeface="Calibri" charset="0"/>
                        <a:ea typeface="Calibri" charset="0"/>
                        <a:cs typeface="Calibri" charset="0"/>
                      </a:endParaRPr>
                    </a:p>
                  </a:txBody>
                  <a:tcPr marL="73152" marR="73152" marT="36576" marB="36576"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2"/>
                    </a:solidFill>
                  </a:tcPr>
                </a:tc>
              </a:tr>
              <a:tr h="585216">
                <a:tc>
                  <a:txBody>
                    <a:bodyPr/>
                    <a:lstStyle/>
                    <a:p>
                      <a:pPr indent="0" marL="0">
                        <a:buNone/>
                      </a:pPr>
                      <a:r>
                        <a:rPr lang="en-US" sz="1200" b="1" dirty="0">
                          <a:solidFill>
                            <a:schemeClr val="accent2"/>
                          </a:solidFill>
                          <a:latin typeface="Calibri" pitchFamily="34" charset="0"/>
                          <a:ea typeface="Calibri" pitchFamily="34" charset="-122"/>
                          <a:cs typeface="Calibri" pitchFamily="34" charset="-120"/>
                        </a:rPr>
                        <a:t>Cost</a:t>
                      </a:r>
                      <a:endParaRPr lang="en-US" sz="1200" dirty="0">
                        <a:latin typeface="Calibri" charset="0"/>
                        <a:ea typeface="Calibri" charset="0"/>
                        <a:cs typeface="Calibri" charset="0"/>
                      </a:endParaRPr>
                    </a:p>
                  </a:txBody>
                  <a:tcPr marL="73152" marR="73152" marT="36576" marB="36576"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Fixed price needs a full up-front estimate</a:t>
                      </a:r>
                      <a:endParaRPr lang="en-US" sz="1200" dirty="0">
                        <a:latin typeface="Calibri" charset="0"/>
                        <a:ea typeface="Calibri" charset="0"/>
                        <a:cs typeface="Calibri" charset="0"/>
                      </a:endParaRPr>
                    </a:p>
                  </a:txBody>
                  <a:tcPr marL="73152" marR="73152" marT="36576" marB="36576"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Budget funds sprints and absorbs change</a:t>
                      </a:r>
                      <a:endParaRPr lang="en-US" sz="1200" dirty="0">
                        <a:latin typeface="Calibri" charset="0"/>
                        <a:ea typeface="Calibri" charset="0"/>
                        <a:cs typeface="Calibri" charset="0"/>
                      </a:endParaRPr>
                    </a:p>
                  </a:txBody>
                  <a:tcPr marL="73152" marR="73152" marT="36576" marB="36576"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Pivot changed a title, 5 pictures, 5 captions</a:t>
                      </a:r>
                      <a:endParaRPr lang="en-US" sz="1200" dirty="0">
                        <a:latin typeface="Calibri" charset="0"/>
                        <a:ea typeface="Calibri" charset="0"/>
                        <a:cs typeface="Calibri" charset="0"/>
                      </a:endParaRPr>
                    </a:p>
                  </a:txBody>
                  <a:tcPr marL="73152" marR="73152" marT="36576" marB="36576"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2"/>
                    </a:solidFill>
                  </a:tcPr>
                </a:tc>
              </a:tr>
              <a:tr h="585216">
                <a:tc>
                  <a:txBody>
                    <a:bodyPr/>
                    <a:lstStyle/>
                    <a:p>
                      <a:pPr indent="0" marL="0">
                        <a:buNone/>
                      </a:pPr>
                      <a:r>
                        <a:rPr lang="en-US" sz="1200" b="1" dirty="0">
                          <a:solidFill>
                            <a:schemeClr val="accent2"/>
                          </a:solidFill>
                          <a:latin typeface="Calibri" pitchFamily="34" charset="0"/>
                          <a:ea typeface="Calibri" pitchFamily="34" charset="-122"/>
                          <a:cs typeface="Calibri" pitchFamily="34" charset="-120"/>
                        </a:rPr>
                        <a:t>Organization</a:t>
                      </a:r>
                      <a:endParaRPr lang="en-US" sz="1200" dirty="0">
                        <a:latin typeface="Calibri" charset="0"/>
                        <a:ea typeface="Calibri" charset="0"/>
                        <a:cs typeface="Calibri" charset="0"/>
                      </a:endParaRPr>
                    </a:p>
                  </a:txBody>
                  <a:tcPr marL="73152" marR="73152" marT="36576" marB="36576"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Hierarchical or regulated; heavy documentation</a:t>
                      </a:r>
                      <a:endParaRPr lang="en-US" sz="1200" dirty="0">
                        <a:latin typeface="Calibri" charset="0"/>
                        <a:ea typeface="Calibri" charset="0"/>
                        <a:cs typeface="Calibri" charset="0"/>
                      </a:endParaRPr>
                    </a:p>
                  </a:txBody>
                  <a:tcPr marL="73152" marR="73152" marT="36576" marB="36576"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Client is available; collaborative culture</a:t>
                      </a:r>
                      <a:endParaRPr lang="en-US" sz="1200" dirty="0">
                        <a:latin typeface="Calibri" charset="0"/>
                        <a:ea typeface="Calibri" charset="0"/>
                        <a:cs typeface="Calibri" charset="0"/>
                      </a:endParaRPr>
                    </a:p>
                  </a:txBody>
                  <a:tcPr marL="73152" marR="73152" marT="36576" marB="36576"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Product Owner reachable by email and Daily Scrum</a:t>
                      </a:r>
                      <a:endParaRPr lang="en-US" sz="1200" dirty="0">
                        <a:latin typeface="Calibri" charset="0"/>
                        <a:ea typeface="Calibri" charset="0"/>
                        <a:cs typeface="Calibri" charset="0"/>
                      </a:endParaRPr>
                    </a:p>
                  </a:txBody>
                  <a:tcPr marL="73152" marR="73152" marT="36576" marB="36576"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2"/>
                    </a:solidFill>
                  </a:tcPr>
                </a:tc>
              </a:tr>
              <a:tr h="585216">
                <a:tc>
                  <a:txBody>
                    <a:bodyPr/>
                    <a:lstStyle/>
                    <a:p>
                      <a:pPr indent="0" marL="0">
                        <a:buNone/>
                      </a:pPr>
                      <a:r>
                        <a:rPr lang="en-US" sz="1200" b="1" dirty="0">
                          <a:solidFill>
                            <a:schemeClr val="accent2"/>
                          </a:solidFill>
                          <a:latin typeface="Calibri" pitchFamily="34" charset="0"/>
                          <a:ea typeface="Calibri" pitchFamily="34" charset="-122"/>
                          <a:cs typeface="Calibri" pitchFamily="34" charset="-120"/>
                        </a:rPr>
                        <a:t>Team</a:t>
                      </a:r>
                      <a:endParaRPr lang="en-US" sz="1200" dirty="0">
                        <a:latin typeface="Calibri" charset="0"/>
                        <a:ea typeface="Calibri" charset="0"/>
                        <a:cs typeface="Calibri" charset="0"/>
                      </a:endParaRPr>
                    </a:p>
                  </a:txBody>
                  <a:tcPr marL="73152" marR="73152" marT="36576" marB="36576"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Large, specialized teams working in phases</a:t>
                      </a:r>
                      <a:endParaRPr lang="en-US" sz="1200" dirty="0">
                        <a:latin typeface="Calibri" charset="0"/>
                        <a:ea typeface="Calibri" charset="0"/>
                        <a:cs typeface="Calibri" charset="0"/>
                      </a:endParaRPr>
                    </a:p>
                  </a:txBody>
                  <a:tcPr marL="73152" marR="73152" marT="36576" marB="36576"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Small, cross-functional, self-managing team</a:t>
                      </a:r>
                      <a:endParaRPr lang="en-US" sz="1200" dirty="0">
                        <a:latin typeface="Calibri" charset="0"/>
                        <a:ea typeface="Calibri" charset="0"/>
                        <a:cs typeface="Calibri" charset="0"/>
                      </a:endParaRPr>
                    </a:p>
                  </a:txBody>
                  <a:tcPr marL="73152" marR="73152" marT="36576" marB="36576"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Four people: Product Owner, Scrum Master, Developer, Tester</a:t>
                      </a:r>
                      <a:endParaRPr lang="en-US" sz="1200" dirty="0">
                        <a:latin typeface="Calibri" charset="0"/>
                        <a:ea typeface="Calibri" charset="0"/>
                        <a:cs typeface="Calibri" charset="0"/>
                      </a:endParaRPr>
                    </a:p>
                  </a:txBody>
                  <a:tcPr marL="73152" marR="73152" marT="36576" marB="36576"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2"/>
                    </a:solidFill>
                  </a:tcPr>
                </a:tc>
              </a:tr>
            </a:tbl>
          </a:graphicData>
        </a:graphic>
      </p:graphicFrame>
      <p:sp>
        <p:nvSpPr>
          <p:cNvPr id="4" name="Source note"/>
          <p:cNvSpPr txBox="1"/>
          <p:nvPr/>
        </p:nvSpPr>
        <p:spPr>
          <a:xfrm>
            <a:off x="457200" y="4389120"/>
            <a:ext cx="8229600" cy="256032"/>
          </a:xfrm>
          <a:prstGeom prst="rect">
            <a:avLst/>
          </a:prstGeom>
          <a:noFill/>
          <a:ln/>
        </p:spPr>
        <p:txBody>
          <a:bodyPr wrap="square" lIns="0" tIns="0" rIns="0" bIns="0" rtlCol="0" anchor="ctr"/>
          <a:lstStyle/>
          <a:p>
            <a:pPr indent="0" marL="0">
              <a:buNone/>
            </a:pPr>
            <a:r>
              <a:rPr lang="en-US" sz="1000" dirty="0">
                <a:solidFill>
                  <a:schemeClr val="accent5"/>
                </a:solidFill>
              </a:rPr>
              <a:t>Factors follow Thesing et al. (2021); the “fits when” columns are my adaptation. PMBOK 7 also advises tailoring the approach (PMI, 2021).</a:t>
            </a:r>
            <a:endParaRPr lang="en-US" sz="1000" dirty="0"/>
          </a:p>
        </p:txBody>
      </p:sp>
      <p:sp>
        <p:nvSpPr>
          <p:cNvPr id="25" name="Slide Number Placeholder 0"/>
          <p:cNvSpPr>
            <a:spLocks noGrp="1"/>
          </p:cNvSpPr>
          <p:nvPr>
            <p:ph type="sldNum" sz="quarter" idx="4294967295"/>
          </p:nvPr>
        </p:nvSpPr>
        <p:spPr>
          <a:xfrm>
            <a:off x="8321040" y="473659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latin typeface="Calibri" pitchFamily="34" charset="0"/>
                <a:ea typeface="Calibri" pitchFamily="34" charset="-122"/>
                <a:cs typeface="Calibri" pitchFamily="34" charset="-120"/>
              </a:rPr>
              <a:t>Next steps for ChadaTech</a:t>
            </a:r>
            <a:endParaRPr lang="en-US" sz="3000" dirty="0"/>
          </a:p>
        </p:txBody>
      </p:sp>
      <p:graphicFrame>
        <p:nvGraphicFramePr>
          <p:cNvPr id="3" name="Chart 0" descr=""/>
          <p:cNvGraphicFramePr/>
          <p:nvPr/>
        </p:nvGraphicFramePr>
        <p:xfrm>
          <a:off x="457200" y="1097280"/>
          <a:ext cx="3749040" cy="3108960"/>
        </p:xfrm>
        <a:graphic xmlns:a="http://schemas.openxmlformats.org/drawingml/2006/main">
          <a:graphicData uri="http://schemas.openxmlformats.org/drawingml/2006/chart">
            <c:chart xmlns:c="http://schemas.openxmlformats.org/drawingml/2006/chart" r:id="rId1"/>
          </a:graphicData>
        </a:graphic>
      </p:graphicFrame>
      <p:sp>
        <p:nvSpPr>
          <p:cNvPr id="4" name="Step number"/>
          <p:cNvSpPr/>
          <p:nvPr/>
        </p:nvSpPr>
        <p:spPr>
          <a:xfrm>
            <a:off x="4572000" y="1170432"/>
            <a:ext cx="457200" cy="457200"/>
          </a:xfrm>
          <a:prstGeom prst="ellipse">
            <a:avLst/>
          </a:prstGeom>
          <a:solidFill>
            <a:schemeClr val="accent1"/>
          </a:solidFill>
          <a:ln/>
        </p:spPr>
      </p:sp>
      <p:sp>
        <p:nvSpPr>
          <p:cNvPr id="5" name="Text 2"/>
          <p:cNvSpPr txBox="1"/>
          <p:nvPr/>
        </p:nvSpPr>
        <p:spPr>
          <a:xfrm>
            <a:off x="4572000" y="1170432"/>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rPr>
              <a:t>1</a:t>
            </a:r>
            <a:endParaRPr lang="en-US" sz="1600" dirty="0"/>
          </a:p>
        </p:txBody>
      </p:sp>
      <p:sp>
        <p:nvSpPr>
          <p:cNvPr id="6" name="Text 3"/>
          <p:cNvSpPr txBox="1"/>
          <p:nvPr/>
        </p:nvSpPr>
        <p:spPr>
          <a:xfrm>
            <a:off x="5212080" y="1097280"/>
            <a:ext cx="3474720" cy="694944"/>
          </a:xfrm>
          <a:prstGeom prst="rect">
            <a:avLst/>
          </a:prstGeom>
          <a:noFill/>
          <a:ln/>
        </p:spPr>
        <p:txBody>
          <a:bodyPr wrap="square" lIns="0" tIns="0" rIns="0" bIns="0" rtlCol="0" anchor="ctr"/>
          <a:lstStyle/>
          <a:p>
            <a:pPr indent="0" marL="0">
              <a:buNone/>
            </a:pPr>
            <a:r>
              <a:rPr lang="en-US" sz="1400" dirty="0">
                <a:solidFill>
                  <a:schemeClr val="tx1"/>
                </a:solidFill>
              </a:rPr>
              <a:t>Make Scrum-Agile the default for projects with evolving requirements.</a:t>
            </a:r>
            <a:endParaRPr lang="en-US" sz="1400" dirty="0"/>
          </a:p>
        </p:txBody>
      </p:sp>
      <p:sp>
        <p:nvSpPr>
          <p:cNvPr id="7" name="Step number"/>
          <p:cNvSpPr/>
          <p:nvPr/>
        </p:nvSpPr>
        <p:spPr>
          <a:xfrm>
            <a:off x="4572000" y="1975104"/>
            <a:ext cx="457200" cy="457200"/>
          </a:xfrm>
          <a:prstGeom prst="ellipse">
            <a:avLst/>
          </a:prstGeom>
          <a:solidFill>
            <a:schemeClr val="accent1"/>
          </a:solidFill>
          <a:ln/>
        </p:spPr>
      </p:sp>
      <p:sp>
        <p:nvSpPr>
          <p:cNvPr id="8" name="Text 5"/>
          <p:cNvSpPr txBox="1"/>
          <p:nvPr/>
        </p:nvSpPr>
        <p:spPr>
          <a:xfrm>
            <a:off x="4572000" y="1975104"/>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rPr>
              <a:t>2</a:t>
            </a:r>
            <a:endParaRPr lang="en-US" sz="1600" dirty="0"/>
          </a:p>
        </p:txBody>
      </p:sp>
      <p:sp>
        <p:nvSpPr>
          <p:cNvPr id="9" name="Text 6"/>
          <p:cNvSpPr txBox="1"/>
          <p:nvPr/>
        </p:nvSpPr>
        <p:spPr>
          <a:xfrm>
            <a:off x="5212080" y="1901952"/>
            <a:ext cx="3474720" cy="694944"/>
          </a:xfrm>
          <a:prstGeom prst="rect">
            <a:avLst/>
          </a:prstGeom>
          <a:noFill/>
          <a:ln/>
        </p:spPr>
        <p:txBody>
          <a:bodyPr wrap="square" lIns="0" tIns="0" rIns="0" bIns="0" rtlCol="0" anchor="ctr"/>
          <a:lstStyle/>
          <a:p>
            <a:pPr indent="0" marL="0">
              <a:buNone/>
            </a:pPr>
            <a:r>
              <a:rPr lang="en-US" sz="1400" dirty="0">
                <a:solidFill>
                  <a:schemeClr val="tx1"/>
                </a:solidFill>
              </a:rPr>
              <a:t>Keep waterfall, or a hybrid, for fixed-scope or regulated work (Conforto, 2024; PMI, 2021).</a:t>
            </a:r>
            <a:endParaRPr lang="en-US" sz="1400" dirty="0"/>
          </a:p>
        </p:txBody>
      </p:sp>
      <p:sp>
        <p:nvSpPr>
          <p:cNvPr id="10" name="Step number"/>
          <p:cNvSpPr/>
          <p:nvPr/>
        </p:nvSpPr>
        <p:spPr>
          <a:xfrm>
            <a:off x="4572000" y="2779776"/>
            <a:ext cx="457200" cy="457200"/>
          </a:xfrm>
          <a:prstGeom prst="ellipse">
            <a:avLst/>
          </a:prstGeom>
          <a:solidFill>
            <a:schemeClr val="accent1"/>
          </a:solidFill>
          <a:ln/>
        </p:spPr>
      </p:sp>
      <p:sp>
        <p:nvSpPr>
          <p:cNvPr id="11" name="Text 8"/>
          <p:cNvSpPr txBox="1"/>
          <p:nvPr/>
        </p:nvSpPr>
        <p:spPr>
          <a:xfrm>
            <a:off x="4572000" y="2779776"/>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rPr>
              <a:t>3</a:t>
            </a:r>
            <a:endParaRPr lang="en-US" sz="1600" dirty="0"/>
          </a:p>
        </p:txBody>
      </p:sp>
      <p:sp>
        <p:nvSpPr>
          <p:cNvPr id="12" name="Text 9"/>
          <p:cNvSpPr txBox="1"/>
          <p:nvPr/>
        </p:nvSpPr>
        <p:spPr>
          <a:xfrm>
            <a:off x="5212080" y="2706624"/>
            <a:ext cx="3474720" cy="694944"/>
          </a:xfrm>
          <a:prstGeom prst="rect">
            <a:avLst/>
          </a:prstGeom>
          <a:noFill/>
          <a:ln/>
        </p:spPr>
        <p:txBody>
          <a:bodyPr wrap="square" lIns="0" tIns="0" rIns="0" bIns="0" rtlCol="0" anchor="ctr"/>
          <a:lstStyle/>
          <a:p>
            <a:pPr indent="0" marL="0">
              <a:buNone/>
            </a:pPr>
            <a:r>
              <a:rPr lang="en-US" sz="1400" dirty="0">
                <a:solidFill>
                  <a:schemeClr val="tx1"/>
                </a:solidFill>
              </a:rPr>
              <a:t>Train Product Owners and Scrum Masters first; leadership understanding is a top barrier (Digital.ai, 2024).</a:t>
            </a:r>
            <a:endParaRPr lang="en-US" sz="1400" dirty="0"/>
          </a:p>
        </p:txBody>
      </p:sp>
      <p:sp>
        <p:nvSpPr>
          <p:cNvPr id="13" name="Step number"/>
          <p:cNvSpPr/>
          <p:nvPr/>
        </p:nvSpPr>
        <p:spPr>
          <a:xfrm>
            <a:off x="4572000" y="3584448"/>
            <a:ext cx="457200" cy="457200"/>
          </a:xfrm>
          <a:prstGeom prst="ellipse">
            <a:avLst/>
          </a:prstGeom>
          <a:solidFill>
            <a:schemeClr val="accent1"/>
          </a:solidFill>
          <a:ln/>
        </p:spPr>
      </p:sp>
      <p:sp>
        <p:nvSpPr>
          <p:cNvPr id="14" name="Text 11"/>
          <p:cNvSpPr txBox="1"/>
          <p:nvPr/>
        </p:nvSpPr>
        <p:spPr>
          <a:xfrm>
            <a:off x="4572000" y="3584448"/>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rPr>
              <a:t>4</a:t>
            </a:r>
            <a:endParaRPr lang="en-US" sz="1600" dirty="0"/>
          </a:p>
        </p:txBody>
      </p:sp>
      <p:sp>
        <p:nvSpPr>
          <p:cNvPr id="15" name="Text 12"/>
          <p:cNvSpPr txBox="1"/>
          <p:nvPr/>
        </p:nvSpPr>
        <p:spPr>
          <a:xfrm>
            <a:off x="5212080" y="3511296"/>
            <a:ext cx="3474720" cy="694944"/>
          </a:xfrm>
          <a:prstGeom prst="rect">
            <a:avLst/>
          </a:prstGeom>
          <a:noFill/>
          <a:ln/>
        </p:spPr>
        <p:txBody>
          <a:bodyPr wrap="square" lIns="0" tIns="0" rIns="0" bIns="0" rtlCol="0" anchor="ctr"/>
          <a:lstStyle/>
          <a:p>
            <a:pPr indent="0" marL="0">
              <a:buNone/>
            </a:pPr>
            <a:r>
              <a:rPr lang="en-US" sz="1400" dirty="0">
                <a:solidFill>
                  <a:schemeClr val="tx1"/>
                </a:solidFill>
              </a:rPr>
              <a:t>Give every team one shared board; ours was split across a spreadsheet, a workbook, and email.</a:t>
            </a:r>
            <a:endParaRPr lang="en-US" sz="1400" dirty="0"/>
          </a:p>
        </p:txBody>
      </p:sp>
      <p:sp>
        <p:nvSpPr>
          <p:cNvPr id="16" name="Source note"/>
          <p:cNvSpPr txBox="1"/>
          <p:nvPr/>
        </p:nvSpPr>
        <p:spPr>
          <a:xfrm>
            <a:off x="457200" y="4389120"/>
            <a:ext cx="8229600" cy="256032"/>
          </a:xfrm>
          <a:prstGeom prst="rect">
            <a:avLst/>
          </a:prstGeom>
          <a:noFill/>
          <a:ln/>
        </p:spPr>
        <p:txBody>
          <a:bodyPr wrap="square" lIns="0" tIns="0" rIns="0" bIns="0" rtlCol="0" anchor="ctr"/>
          <a:lstStyle/>
          <a:p>
            <a:pPr indent="0" marL="0">
              <a:buNone/>
            </a:pPr>
            <a:r>
              <a:rPr lang="en-US" sz="1000" dirty="0">
                <a:solidFill>
                  <a:schemeClr val="accent5"/>
                </a:solidFill>
              </a:rPr>
              <a:t>Chart data: PMI Pulse of the Profession as reported by Conforto (2024).</a:t>
            </a:r>
            <a:endParaRPr lang="en-US" sz="1000" dirty="0"/>
          </a:p>
        </p:txBody>
      </p:sp>
      <p:sp>
        <p:nvSpPr>
          <p:cNvPr id="25" name="Slide Number Placeholder 0"/>
          <p:cNvSpPr>
            <a:spLocks noGrp="1"/>
          </p:cNvSpPr>
          <p:nvPr>
            <p:ph type="sldNum" sz="quarter" idx="4294967295"/>
          </p:nvPr>
        </p:nvSpPr>
        <p:spPr>
          <a:xfrm>
            <a:off x="8321040" y="473659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latin typeface="Calibri" pitchFamily="34" charset="0"/>
                <a:ea typeface="Calibri" pitchFamily="34" charset="-122"/>
                <a:cs typeface="Calibri" pitchFamily="34" charset="-120"/>
              </a:rPr>
              <a:t>References</a:t>
            </a:r>
            <a:endParaRPr lang="en-US" sz="3000" dirty="0"/>
          </a:p>
        </p:txBody>
      </p:sp>
      <p:sp>
        <p:nvSpPr>
          <p:cNvPr id="3" name="Reference list"/>
          <p:cNvSpPr txBox="1"/>
          <p:nvPr/>
        </p:nvSpPr>
        <p:spPr>
          <a:xfrm>
            <a:off x="457200" y="1051560"/>
            <a:ext cx="8229600" cy="3246120"/>
          </a:xfrm>
          <a:prstGeom prst="rect">
            <a:avLst/>
          </a:prstGeom>
          <a:noFill/>
          <a:ln/>
        </p:spPr>
        <p:txBody>
          <a:bodyPr wrap="square" lIns="0" tIns="0" rIns="0" bIns="0" rtlCol="0" anchor="t"/>
          <a:lstStyle/>
          <a:p>
            <a:pPr indent="0" marL="0">
              <a:spcAft>
                <a:spcPts val="500"/>
              </a:spcAft>
              <a:buNone/>
            </a:pPr>
            <a:r>
              <a:rPr lang="en-US" sz="1100" dirty="0">
                <a:solidFill>
                  <a:schemeClr val="tx1"/>
                </a:solidFill>
              </a:rPr>
              <a:t>Anthropic. (2026). </a:t>
            </a:r>
            <a:pPr indent="0" marL="0">
              <a:spcAft>
                <a:spcPts val="500"/>
              </a:spcAft>
              <a:buNone/>
            </a:pPr>
            <a:r>
              <a:rPr lang="en-US" sz="1100" i="1" dirty="0">
                <a:solidFill>
                  <a:schemeClr val="tx1"/>
                </a:solidFill>
              </a:rPr>
              <a:t>Claude Sonnet 5.5</a:t>
            </a:r>
            <a:pPr indent="0" marL="0">
              <a:spcAft>
                <a:spcPts val="500"/>
              </a:spcAft>
              <a:buNone/>
            </a:pPr>
            <a:r>
              <a:rPr lang="en-US" sz="1100" dirty="0">
                <a:solidFill>
                  <a:schemeClr val="tx1"/>
                </a:solidFill>
              </a:rPr>
              <a:t> [Large language model]. https://www.anthropic.com/claude</a:t>
            </a:r>
            <a:endParaRPr lang="en-US" sz="1100" dirty="0"/>
          </a:p>
          <a:p>
            <a:pPr indent="0" marL="0">
              <a:spcAft>
                <a:spcPts val="500"/>
              </a:spcAft>
              <a:buNone/>
            </a:pPr>
            <a:r>
              <a:rPr lang="en-US" sz="1100" dirty="0">
                <a:solidFill>
                  <a:schemeClr val="tx1"/>
                </a:solidFill>
              </a:rPr>
              <a:t>Conforto, E. (2024, February 23). The hybrid era: Project management embraces the fit-for-purpose approach. </a:t>
            </a:r>
            <a:pPr indent="0" marL="0">
              <a:spcAft>
                <a:spcPts val="500"/>
              </a:spcAft>
              <a:buNone/>
            </a:pPr>
            <a:r>
              <a:rPr lang="en-US" sz="1100" i="1" dirty="0">
                <a:solidFill>
                  <a:schemeClr val="tx1"/>
                </a:solidFill>
              </a:rPr>
              <a:t>PMI Blog</a:t>
            </a:r>
            <a:pPr indent="0" marL="0">
              <a:spcAft>
                <a:spcPts val="500"/>
              </a:spcAft>
              <a:buNone/>
            </a:pPr>
            <a:r>
              <a:rPr lang="en-US" sz="1100" dirty="0">
                <a:solidFill>
                  <a:schemeClr val="tx1"/>
                </a:solidFill>
              </a:rPr>
              <a:t>. https://www.pmi.org/blog/project-management-embraces-the-fit-for-purpose-approach</a:t>
            </a:r>
            <a:endParaRPr lang="en-US" sz="1100" dirty="0"/>
          </a:p>
          <a:p>
            <a:pPr indent="0" marL="0">
              <a:spcAft>
                <a:spcPts val="500"/>
              </a:spcAft>
              <a:buNone/>
            </a:pPr>
            <a:r>
              <a:rPr lang="en-US" sz="1100" dirty="0">
                <a:solidFill>
                  <a:schemeClr val="tx1"/>
                </a:solidFill>
              </a:rPr>
              <a:t>Digital.ai. (2024, January 16). </a:t>
            </a:r>
            <a:pPr indent="0" marL="0">
              <a:spcAft>
                <a:spcPts val="500"/>
              </a:spcAft>
              <a:buNone/>
            </a:pPr>
            <a:r>
              <a:rPr lang="en-US" sz="1100" i="1" dirty="0">
                <a:solidFill>
                  <a:schemeClr val="tx1"/>
                </a:solidFill>
              </a:rPr>
              <a:t>17th State of Agile report: 71% use Agile in their SDLC</a:t>
            </a:r>
            <a:pPr indent="0" marL="0">
              <a:spcAft>
                <a:spcPts val="500"/>
              </a:spcAft>
              <a:buNone/>
            </a:pPr>
            <a:r>
              <a:rPr lang="en-US" sz="1100" dirty="0">
                <a:solidFill>
                  <a:schemeClr val="tx1"/>
                </a:solidFill>
              </a:rPr>
              <a:t> [Press release]. Business Wire. https://www.businesswire.com/news/home/20240116199385/en/17th-State-of-Agile-Report-71-Use-Agile-in-their-SDLC</a:t>
            </a:r>
            <a:endParaRPr lang="en-US" sz="1100" dirty="0"/>
          </a:p>
          <a:p>
            <a:pPr indent="0" marL="0">
              <a:spcAft>
                <a:spcPts val="500"/>
              </a:spcAft>
              <a:buNone/>
            </a:pPr>
            <a:r>
              <a:rPr lang="en-US" sz="1100" dirty="0">
                <a:solidFill>
                  <a:schemeClr val="tx1"/>
                </a:solidFill>
              </a:rPr>
              <a:t>Project Management Institute. (2021). </a:t>
            </a:r>
            <a:pPr indent="0" marL="0">
              <a:spcAft>
                <a:spcPts val="500"/>
              </a:spcAft>
              <a:buNone/>
            </a:pPr>
            <a:r>
              <a:rPr lang="en-US" sz="1100" i="1" dirty="0">
                <a:solidFill>
                  <a:schemeClr val="tx1"/>
                </a:solidFill>
              </a:rPr>
              <a:t>A guide to the project management body of knowledge (PMBOK guide)</a:t>
            </a:r>
            <a:pPr indent="0" marL="0">
              <a:spcAft>
                <a:spcPts val="500"/>
              </a:spcAft>
              <a:buNone/>
            </a:pPr>
            <a:r>
              <a:rPr lang="en-US" sz="1100" dirty="0">
                <a:solidFill>
                  <a:schemeClr val="tx1"/>
                </a:solidFill>
              </a:rPr>
              <a:t> (7th ed.).</a:t>
            </a:r>
            <a:endParaRPr lang="en-US" sz="1100" dirty="0"/>
          </a:p>
          <a:p>
            <a:pPr indent="0" marL="0">
              <a:spcAft>
                <a:spcPts val="500"/>
              </a:spcAft>
              <a:buNone/>
            </a:pPr>
            <a:r>
              <a:rPr lang="en-US" sz="1100" dirty="0">
                <a:solidFill>
                  <a:schemeClr val="tx1"/>
                </a:solidFill>
              </a:rPr>
              <a:t>Sassa, A. C., de Almeida, I. A., Pereira, T. N. F., &amp; de Oliveira, M. S. (2023). Scrum: A systematic literature review. </a:t>
            </a:r>
            <a:pPr indent="0" marL="0">
              <a:spcAft>
                <a:spcPts val="500"/>
              </a:spcAft>
              <a:buNone/>
            </a:pPr>
            <a:r>
              <a:rPr lang="en-US" sz="1100" i="1" dirty="0">
                <a:solidFill>
                  <a:schemeClr val="tx1"/>
                </a:solidFill>
              </a:rPr>
              <a:t>International Journal of Advanced Computer Science and Applications, 14</a:t>
            </a:r>
            <a:pPr indent="0" marL="0">
              <a:spcAft>
                <a:spcPts val="500"/>
              </a:spcAft>
              <a:buNone/>
            </a:pPr>
            <a:r>
              <a:rPr lang="en-US" sz="1100" dirty="0">
                <a:solidFill>
                  <a:schemeClr val="tx1"/>
                </a:solidFill>
              </a:rPr>
              <a:t>(4). https://thesai.org/Downloads/Volume14No4/Paper_20-Scrum_A_Systematic_Literature_Review.pdf</a:t>
            </a:r>
            <a:endParaRPr lang="en-US" sz="1100" dirty="0"/>
          </a:p>
          <a:p>
            <a:pPr indent="0" marL="0">
              <a:spcAft>
                <a:spcPts val="500"/>
              </a:spcAft>
              <a:buNone/>
            </a:pPr>
            <a:r>
              <a:rPr lang="en-US" sz="1100" dirty="0">
                <a:solidFill>
                  <a:schemeClr val="tx1"/>
                </a:solidFill>
              </a:rPr>
              <a:t>Schwaber, K., &amp; Sutherland, J. (2020). </a:t>
            </a:r>
            <a:pPr indent="0" marL="0">
              <a:spcAft>
                <a:spcPts val="500"/>
              </a:spcAft>
              <a:buNone/>
            </a:pPr>
            <a:r>
              <a:rPr lang="en-US" sz="1100" i="1" dirty="0">
                <a:solidFill>
                  <a:schemeClr val="tx1"/>
                </a:solidFill>
              </a:rPr>
              <a:t>The Scrum guide</a:t>
            </a:r>
            <a:pPr indent="0" marL="0">
              <a:spcAft>
                <a:spcPts val="500"/>
              </a:spcAft>
              <a:buNone/>
            </a:pPr>
            <a:r>
              <a:rPr lang="en-US" sz="1100" dirty="0">
                <a:solidFill>
                  <a:schemeClr val="tx1"/>
                </a:solidFill>
              </a:rPr>
              <a:t>. https://scrumguides.org/scrum-guide.html</a:t>
            </a:r>
            <a:endParaRPr lang="en-US" sz="1100" dirty="0"/>
          </a:p>
          <a:p>
            <a:pPr indent="0" marL="0">
              <a:spcAft>
                <a:spcPts val="500"/>
              </a:spcAft>
              <a:buNone/>
            </a:pPr>
            <a:r>
              <a:rPr lang="en-US" sz="1100" dirty="0">
                <a:solidFill>
                  <a:schemeClr val="tx1"/>
                </a:solidFill>
              </a:rPr>
              <a:t>Thesing, T., Feldmann, C., &amp; Burchardt, M. (2021). Agile versus waterfall project management: Decision model for selecting the appropriate approach to a project. </a:t>
            </a:r>
            <a:pPr indent="0" marL="0">
              <a:spcAft>
                <a:spcPts val="500"/>
              </a:spcAft>
              <a:buNone/>
            </a:pPr>
            <a:r>
              <a:rPr lang="en-US" sz="1100" i="1" dirty="0">
                <a:solidFill>
                  <a:schemeClr val="tx1"/>
                </a:solidFill>
              </a:rPr>
              <a:t>Procedia Computer Science, 181</a:t>
            </a:r>
            <a:pPr indent="0" marL="0">
              <a:spcAft>
                <a:spcPts val="500"/>
              </a:spcAft>
              <a:buNone/>
            </a:pPr>
            <a:r>
              <a:rPr lang="en-US" sz="1100" dirty="0">
                <a:solidFill>
                  <a:schemeClr val="tx1"/>
                </a:solidFill>
              </a:rPr>
              <a:t>, 746–756. https://doi.org/10.1016/j.procs.2021.01.227</a:t>
            </a:r>
            <a:endParaRPr lang="en-US" sz="1100" dirty="0"/>
          </a:p>
        </p:txBody>
      </p:sp>
      <p:sp>
        <p:nvSpPr>
          <p:cNvPr id="4" name="Text 2"/>
          <p:cNvSpPr txBox="1"/>
          <p:nvPr/>
        </p:nvSpPr>
        <p:spPr>
          <a:xfrm>
            <a:off x="457200" y="4343400"/>
            <a:ext cx="8229600" cy="274320"/>
          </a:xfrm>
          <a:prstGeom prst="rect">
            <a:avLst/>
          </a:prstGeom>
          <a:noFill/>
          <a:ln/>
        </p:spPr>
        <p:txBody>
          <a:bodyPr wrap="square" lIns="0" tIns="0" rIns="0" bIns="0" rtlCol="0" anchor="ctr"/>
          <a:lstStyle/>
          <a:p>
            <a:pPr indent="0" marL="0">
              <a:buNone/>
            </a:pPr>
            <a:r>
              <a:rPr lang="en-US" sz="1000" i="1" dirty="0">
                <a:solidFill>
                  <a:schemeClr val="accent5"/>
                </a:solidFill>
              </a:rPr>
              <a:t>AI use: This presentation was drafted with Claude (Anthropic, 2026) from my Module Three to Six work; I reviewed the content and sources.</a:t>
            </a:r>
            <a:endParaRPr lang="en-US" sz="1000" dirty="0"/>
          </a:p>
        </p:txBody>
      </p:sp>
      <p:sp>
        <p:nvSpPr>
          <p:cNvPr id="25" name="Slide Number Placeholder 0"/>
          <p:cNvSpPr>
            <a:spLocks noGrp="1"/>
          </p:cNvSpPr>
          <p:nvPr>
            <p:ph type="sldNum" sz="quarter" idx="4294967295"/>
          </p:nvPr>
        </p:nvSpPr>
        <p:spPr>
          <a:xfrm>
            <a:off x="8321040" y="473659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theme/theme1.xml><?xml version="1.0" encoding="utf-8"?>
<a:theme xmlns:a="http://schemas.openxmlformats.org/drawingml/2006/main" name="ChadaTech Agile">
  <a:themeElements>
    <a:clrScheme name="ChadaTech Agile">
      <a:dk1>
        <a:srgbClr val="0B0F14"/>
      </a:dk1>
      <a:lt1>
        <a:srgbClr val="FFFFFF"/>
      </a:lt1>
      <a:dk2>
        <a:srgbClr val="16222E"/>
      </a:dk2>
      <a:lt2>
        <a:srgbClr val="EAF4FB"/>
      </a:lt2>
      <a:accent1>
        <a:srgbClr val="29B0FA"/>
      </a:accent1>
      <a:accent2>
        <a:srgbClr val="0B6FA8"/>
      </a:accent2>
      <a:accent3>
        <a:srgbClr val="F59E0B"/>
      </a:accent3>
      <a:accent4>
        <a:srgbClr val="1F9D63"/>
      </a:accent4>
      <a:accent5>
        <a:srgbClr val="5F6B7A"/>
      </a:accent5>
      <a:accent6>
        <a:srgbClr val="CBD5E1"/>
      </a:accent6>
      <a:hlink>
        <a:srgbClr val="0B6FA8"/>
      </a:hlink>
      <a:folHlink>
        <a:srgbClr val="5F6B7A"/>
      </a:folHlink>
    </a:clrScheme>
    <a:fontScheme name="ChadaTech Agil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ChadaTech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Is Scrum-Agile Right for ChadaTech? Lessons from the SNHU Travel Pilot</dc:title>
  <dc:subject>PptxGenJS Presentation</dc:subject>
  <dc:creator>Mutia Aminu Jimbah</dc:creator>
  <cp:lastModifiedBy>Mutia Aminu Jimbah</cp:lastModifiedBy>
  <cp:revision>1</cp:revision>
  <dcterms:created xsi:type="dcterms:W3CDTF">2026-10-19T00:44:18Z</dcterms:created>
  <dcterms:modified xsi:type="dcterms:W3CDTF">2026-10-19T00:44:18Z</dcterms:modified>
</cp:coreProperties>
</file>